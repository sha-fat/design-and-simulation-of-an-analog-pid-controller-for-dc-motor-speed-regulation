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y="6858000" cx="12192000"/>
  <p:notesSz cx="6858000" cy="12192000"/>
  <p:embeddedFontLst>
    <p:embeddedFont>
      <p:font typeface="Corben"/>
      <p:regular r:id="rId31"/>
      <p:bold r:id="rId32"/>
    </p:embeddedFont>
    <p:embeddedFont>
      <p:font typeface="Instrument Sans Medium"/>
      <p:regular r:id="rId33"/>
      <p:bold r:id="rId34"/>
      <p:italic r:id="rId35"/>
      <p:boldItalic r:id="rId36"/>
    </p:embeddedFont>
    <p:embeddedFont>
      <p:font typeface="Instrument Sans SemiBold"/>
      <p:regular r:id="rId37"/>
      <p:bold r:id="rId38"/>
      <p:italic r:id="rId39"/>
      <p:boldItalic r:id="rId40"/>
    </p:embeddedFont>
    <p:embeddedFont>
      <p:font typeface="Instrument Sans"/>
      <p:bold r:id="rId41"/>
      <p:boldItalic r:id="rId42"/>
    </p:embeddedFont>
    <p:embeddedFont>
      <p:font typeface="Nobile Medium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7" roundtripDataSignature="AMtx7mhF3u9rfopH9iZWdVVGNcRxw5uMa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E7946FD-088F-43E6-89D7-B616C903F223}">
  <a:tblStyle styleId="{3E7946FD-088F-43E6-89D7-B616C903F223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fill>
          <a:solidFill>
            <a:srgbClr val="CDD4EA"/>
          </a:solidFill>
        </a:fill>
      </a:tcStyle>
    </a:band1H>
    <a:band2H>
      <a:tcTxStyle/>
    </a:band2H>
    <a:band1V>
      <a:tcTxStyle/>
      <a:tcStyle>
        <a:fill>
          <a:solidFill>
            <a:srgbClr val="CDD4EA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nstrumentSansSemiBold-boldItalic.fntdata"/><Relationship Id="rId20" Type="http://schemas.openxmlformats.org/officeDocument/2006/relationships/slide" Target="slides/slide15.xml"/><Relationship Id="rId42" Type="http://schemas.openxmlformats.org/officeDocument/2006/relationships/font" Target="fonts/InstrumentSans-boldItalic.fntdata"/><Relationship Id="rId41" Type="http://schemas.openxmlformats.org/officeDocument/2006/relationships/font" Target="fonts/InstrumentSans-bold.fntdata"/><Relationship Id="rId22" Type="http://schemas.openxmlformats.org/officeDocument/2006/relationships/slide" Target="slides/slide17.xml"/><Relationship Id="rId44" Type="http://schemas.openxmlformats.org/officeDocument/2006/relationships/font" Target="fonts/NobileMedium-bold.fntdata"/><Relationship Id="rId21" Type="http://schemas.openxmlformats.org/officeDocument/2006/relationships/slide" Target="slides/slide16.xml"/><Relationship Id="rId43" Type="http://schemas.openxmlformats.org/officeDocument/2006/relationships/font" Target="fonts/NobileMedium-regular.fntdata"/><Relationship Id="rId24" Type="http://schemas.openxmlformats.org/officeDocument/2006/relationships/slide" Target="slides/slide19.xml"/><Relationship Id="rId46" Type="http://schemas.openxmlformats.org/officeDocument/2006/relationships/font" Target="fonts/NobileMedium-boldItalic.fntdata"/><Relationship Id="rId23" Type="http://schemas.openxmlformats.org/officeDocument/2006/relationships/slide" Target="slides/slide18.xml"/><Relationship Id="rId45" Type="http://schemas.openxmlformats.org/officeDocument/2006/relationships/font" Target="fonts/NobileMedium-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47" Type="http://customschemas.google.com/relationships/presentationmetadata" Target="meta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Corben-regular.fntdata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font" Target="fonts/InstrumentSansMedium-regular.fntdata"/><Relationship Id="rId10" Type="http://schemas.openxmlformats.org/officeDocument/2006/relationships/slide" Target="slides/slide5.xml"/><Relationship Id="rId32" Type="http://schemas.openxmlformats.org/officeDocument/2006/relationships/font" Target="fonts/Corben-bold.fntdata"/><Relationship Id="rId13" Type="http://schemas.openxmlformats.org/officeDocument/2006/relationships/slide" Target="slides/slide8.xml"/><Relationship Id="rId35" Type="http://schemas.openxmlformats.org/officeDocument/2006/relationships/font" Target="fonts/InstrumentSansMedium-italic.fntdata"/><Relationship Id="rId12" Type="http://schemas.openxmlformats.org/officeDocument/2006/relationships/slide" Target="slides/slide7.xml"/><Relationship Id="rId34" Type="http://schemas.openxmlformats.org/officeDocument/2006/relationships/font" Target="fonts/InstrumentSansMedium-bold.fntdata"/><Relationship Id="rId15" Type="http://schemas.openxmlformats.org/officeDocument/2006/relationships/slide" Target="slides/slide10.xml"/><Relationship Id="rId37" Type="http://schemas.openxmlformats.org/officeDocument/2006/relationships/font" Target="fonts/InstrumentSansSemiBold-regular.fntdata"/><Relationship Id="rId14" Type="http://schemas.openxmlformats.org/officeDocument/2006/relationships/slide" Target="slides/slide9.xml"/><Relationship Id="rId36" Type="http://schemas.openxmlformats.org/officeDocument/2006/relationships/font" Target="fonts/InstrumentSansMedium-boldItalic.fntdata"/><Relationship Id="rId17" Type="http://schemas.openxmlformats.org/officeDocument/2006/relationships/slide" Target="slides/slide12.xml"/><Relationship Id="rId39" Type="http://schemas.openxmlformats.org/officeDocument/2006/relationships/font" Target="fonts/InstrumentSansSemiBold-italic.fntdata"/><Relationship Id="rId16" Type="http://schemas.openxmlformats.org/officeDocument/2006/relationships/slide" Target="slides/slide11.xml"/><Relationship Id="rId38" Type="http://schemas.openxmlformats.org/officeDocument/2006/relationships/font" Target="fonts/InstrumentSansSemiBold-bold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" name="Google Shape;36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2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3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7" name="Google Shape;67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5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5" name="Google Shape;105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7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7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2" name="Google Shape;182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2" name="Google Shape;202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5" name="Google Shape;215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3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3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1" name="Google Shape;251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3" name="Google Shape;263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6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6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7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1" name="Google Shape;281;p17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8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8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9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9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20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20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21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21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22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3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23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24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24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25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25:notes"/>
          <p:cNvSpPr/>
          <p:nvPr>
            <p:ph idx="2" type="sldImg"/>
          </p:nvPr>
        </p:nvSpPr>
        <p:spPr>
          <a:xfrm>
            <a:off x="1143225" y="914400"/>
            <a:ext cx="4572225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1">
  <p:cSld name="Slide master 1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2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8;p2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9;p27"/>
          <p:cNvSpPr/>
          <p:nvPr/>
        </p:nvSpPr>
        <p:spPr>
          <a:xfrm>
            <a:off x="0" y="0"/>
            <a:ext cx="12191397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10;p27"/>
          <p:cNvSpPr/>
          <p:nvPr/>
        </p:nvSpPr>
        <p:spPr>
          <a:xfrm>
            <a:off x="0" y="0"/>
            <a:ext cx="1219139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27"/>
          <p:cNvSpPr/>
          <p:nvPr/>
        </p:nvSpPr>
        <p:spPr>
          <a:xfrm>
            <a:off x="0" y="0"/>
            <a:ext cx="12191000" cy="6858000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27"/>
          <p:cNvSpPr/>
          <p:nvPr/>
        </p:nvSpPr>
        <p:spPr>
          <a:xfrm>
            <a:off x="0" y="0"/>
            <a:ext cx="12191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" name="Google Shape;1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1807" y="-31055"/>
            <a:ext cx="12203204" cy="692030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4" name="Google Shape;14;p27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76875" y="65589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8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28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28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2">
  <p:cSld name="Slide master 2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2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29"/>
          <p:cNvSpPr/>
          <p:nvPr/>
        </p:nvSpPr>
        <p:spPr>
          <a:xfrm>
            <a:off x="0" y="0"/>
            <a:ext cx="12191397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29"/>
          <p:cNvSpPr/>
          <p:nvPr/>
        </p:nvSpPr>
        <p:spPr>
          <a:xfrm>
            <a:off x="0" y="0"/>
            <a:ext cx="1219139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4" name="Google Shape;24;p29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76875" y="65589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3">
  <p:cSld name="Slide master 3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3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30"/>
          <p:cNvSpPr/>
          <p:nvPr/>
        </p:nvSpPr>
        <p:spPr>
          <a:xfrm>
            <a:off x="0" y="0"/>
            <a:ext cx="12191397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30"/>
          <p:cNvSpPr/>
          <p:nvPr/>
        </p:nvSpPr>
        <p:spPr>
          <a:xfrm>
            <a:off x="0" y="0"/>
            <a:ext cx="1219139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30"/>
          <p:cNvSpPr/>
          <p:nvPr/>
        </p:nvSpPr>
        <p:spPr>
          <a:xfrm>
            <a:off x="0" y="0"/>
            <a:ext cx="12191000" cy="6858000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30"/>
          <p:cNvSpPr/>
          <p:nvPr/>
        </p:nvSpPr>
        <p:spPr>
          <a:xfrm>
            <a:off x="0" y="0"/>
            <a:ext cx="12191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2" name="Google Shape;32;p30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76875" y="6558991"/>
            <a:ext cx="1071843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10" Type="http://schemas.openxmlformats.org/officeDocument/2006/relationships/image" Target="../media/image17.jpg"/><Relationship Id="rId9" Type="http://schemas.openxmlformats.org/officeDocument/2006/relationships/image" Target="../media/image15.png"/><Relationship Id="rId5" Type="http://schemas.openxmlformats.org/officeDocument/2006/relationships/image" Target="../media/image9.png"/><Relationship Id="rId6" Type="http://schemas.openxmlformats.org/officeDocument/2006/relationships/image" Target="../media/image13.png"/><Relationship Id="rId7" Type="http://schemas.openxmlformats.org/officeDocument/2006/relationships/image" Target="../media/image18.png"/><Relationship Id="rId8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19.png"/><Relationship Id="rId5" Type="http://schemas.openxmlformats.org/officeDocument/2006/relationships/image" Target="../media/image21.jpg"/></Relationships>
</file>

<file path=ppt/slides/_rels/slide8.xml.rels><?xml version="1.0" encoding="UTF-8" standalone="yes"?><Relationships xmlns="http://schemas.openxmlformats.org/package/2006/relationships"><Relationship Id="rId11" Type="http://schemas.openxmlformats.org/officeDocument/2006/relationships/image" Target="../media/image24.png"/><Relationship Id="rId10" Type="http://schemas.openxmlformats.org/officeDocument/2006/relationships/image" Target="../media/image25.png"/><Relationship Id="rId13" Type="http://schemas.openxmlformats.org/officeDocument/2006/relationships/image" Target="../media/image28.jpg"/><Relationship Id="rId12" Type="http://schemas.openxmlformats.org/officeDocument/2006/relationships/image" Target="../media/image27.jpg"/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9" Type="http://schemas.openxmlformats.org/officeDocument/2006/relationships/image" Target="../media/image26.png"/><Relationship Id="rId5" Type="http://schemas.openxmlformats.org/officeDocument/2006/relationships/image" Target="../media/image9.png"/><Relationship Id="rId6" Type="http://schemas.openxmlformats.org/officeDocument/2006/relationships/image" Target="../media/image20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33.jpg"/><Relationship Id="rId10" Type="http://schemas.openxmlformats.org/officeDocument/2006/relationships/image" Target="../media/image34.png"/><Relationship Id="rId12" Type="http://schemas.openxmlformats.org/officeDocument/2006/relationships/image" Target="../media/image35.jpg"/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9" Type="http://schemas.openxmlformats.org/officeDocument/2006/relationships/image" Target="../media/image32.png"/><Relationship Id="rId5" Type="http://schemas.openxmlformats.org/officeDocument/2006/relationships/image" Target="../media/image9.png"/><Relationship Id="rId6" Type="http://schemas.openxmlformats.org/officeDocument/2006/relationships/image" Target="../media/image30.png"/><Relationship Id="rId7" Type="http://schemas.openxmlformats.org/officeDocument/2006/relationships/image" Target="../media/image29.png"/><Relationship Id="rId8" Type="http://schemas.openxmlformats.org/officeDocument/2006/relationships/image" Target="../media/image3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9" Type="http://schemas.openxmlformats.org/officeDocument/2006/relationships/image" Target="../media/image39.png"/><Relationship Id="rId5" Type="http://schemas.openxmlformats.org/officeDocument/2006/relationships/image" Target="../media/image9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9.png"/><Relationship Id="rId5" Type="http://schemas.openxmlformats.org/officeDocument/2006/relationships/image" Target="../media/image4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1.jpg"/><Relationship Id="rId4" Type="http://schemas.openxmlformats.org/officeDocument/2006/relationships/image" Target="../media/image3.png"/><Relationship Id="rId9" Type="http://schemas.openxmlformats.org/officeDocument/2006/relationships/image" Target="../media/image44.png"/><Relationship Id="rId5" Type="http://schemas.openxmlformats.org/officeDocument/2006/relationships/image" Target="../media/image5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7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50.png"/><Relationship Id="rId7" Type="http://schemas.openxmlformats.org/officeDocument/2006/relationships/image" Target="../media/image4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image" Target="../media/image5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9" name="Google Shape;3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76504" y="65589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0" name="Google Shape;40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76206" y="65588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41" name="Google Shape;41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509483" y="6491089"/>
            <a:ext cx="1638457" cy="32385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1"/>
          <p:cNvSpPr/>
          <p:nvPr/>
        </p:nvSpPr>
        <p:spPr>
          <a:xfrm>
            <a:off x="661376" y="787011"/>
            <a:ext cx="4903466" cy="8288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B1B27"/>
              </a:buClr>
              <a:buSzPts val="3200"/>
              <a:buFont typeface="Corben"/>
              <a:buNone/>
            </a:pPr>
            <a:r>
              <a:rPr b="1" lang="en-US" sz="3200">
                <a:solidFill>
                  <a:srgbClr val="1B1B27"/>
                </a:solidFill>
                <a:latin typeface="Corben"/>
                <a:ea typeface="Corben"/>
                <a:cs typeface="Corben"/>
                <a:sym typeface="Corben"/>
              </a:rPr>
              <a:t>ANALOG  PID CONTROLLER</a:t>
            </a:r>
            <a:endParaRPr/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B1B27"/>
              </a:buClr>
              <a:buSzPts val="3200"/>
              <a:buFont typeface="Corben"/>
              <a:buNone/>
            </a:pPr>
            <a:r>
              <a:rPr b="1" lang="en-US" sz="3200">
                <a:solidFill>
                  <a:srgbClr val="1B1B27"/>
                </a:solidFill>
                <a:latin typeface="Corben"/>
                <a:ea typeface="Corben"/>
                <a:cs typeface="Corben"/>
                <a:sym typeface="Corben"/>
              </a:rPr>
              <a:t>For </a:t>
            </a:r>
            <a:endParaRPr/>
          </a:p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B1B27"/>
              </a:buClr>
              <a:buSzPts val="3200"/>
              <a:buFont typeface="Corben"/>
              <a:buNone/>
            </a:pPr>
            <a:r>
              <a:rPr b="1" i="1" lang="en-US" sz="3200">
                <a:solidFill>
                  <a:srgbClr val="1B1B27"/>
                </a:solidFill>
                <a:latin typeface="Corben"/>
                <a:ea typeface="Corben"/>
                <a:cs typeface="Corben"/>
                <a:sym typeface="Corben"/>
              </a:rPr>
              <a:t>Dc motor speed regulation  </a:t>
            </a:r>
            <a:endParaRPr b="1" i="1"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1"/>
          <p:cNvSpPr/>
          <p:nvPr/>
        </p:nvSpPr>
        <p:spPr>
          <a:xfrm>
            <a:off x="661376" y="2994025"/>
            <a:ext cx="4415719" cy="34135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404155"/>
              </a:buClr>
              <a:buSzPts val="1360"/>
              <a:buFont typeface="Corben"/>
              <a:buNone/>
            </a:pPr>
            <a:r>
              <a:rPr lang="en-US" sz="1360">
                <a:solidFill>
                  <a:srgbClr val="404155"/>
                </a:solidFill>
                <a:latin typeface="Corben"/>
                <a:ea typeface="Corben"/>
                <a:cs typeface="Corben"/>
                <a:sym typeface="Corben"/>
              </a:rPr>
              <a:t>DC Motor Speed Control, Transient Optimization &amp; Tuning in OrCAD/PSpice 9.2</a:t>
            </a:r>
            <a:endParaRPr/>
          </a:p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60"/>
              <a:buFont typeface="Calibri"/>
              <a:buNone/>
            </a:pPr>
            <a:r>
              <a:t/>
            </a:r>
            <a:endParaRPr sz="136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404155"/>
              </a:buClr>
              <a:buSzPts val="1360"/>
              <a:buFont typeface="Corben"/>
              <a:buNone/>
            </a:pPr>
            <a:r>
              <a:rPr lang="en-US" sz="1360">
                <a:solidFill>
                  <a:srgbClr val="404155"/>
                </a:solidFill>
                <a:latin typeface="Corben"/>
                <a:ea typeface="Corben"/>
                <a:cs typeface="Corben"/>
                <a:sym typeface="Corben"/>
              </a:rPr>
              <a:t>Department of Electrical and Electronic Engineering (EEE)</a:t>
            </a:r>
            <a:endParaRPr/>
          </a:p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60"/>
              <a:buFont typeface="Calibri"/>
              <a:buNone/>
            </a:pPr>
            <a:r>
              <a:t/>
            </a:r>
            <a:endParaRPr sz="136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404155"/>
              </a:buClr>
              <a:buSzPts val="1360"/>
              <a:buFont typeface="Corben"/>
              <a:buNone/>
            </a:pPr>
            <a:r>
              <a:rPr lang="en-US" sz="1360">
                <a:solidFill>
                  <a:srgbClr val="404155"/>
                </a:solidFill>
                <a:latin typeface="Corben"/>
                <a:ea typeface="Corben"/>
                <a:cs typeface="Corben"/>
                <a:sym typeface="Corben"/>
              </a:rPr>
              <a:t>Bangladesh University of Engineering and Technology (BUET)</a:t>
            </a:r>
            <a:endParaRPr sz="136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190"/>
              <a:buFont typeface="Nobile Medium"/>
              <a:buNone/>
            </a:pPr>
            <a:r>
              <a:rPr lang="en-US" sz="1190">
                <a:solidFill>
                  <a:srgbClr val="1E3063"/>
                </a:solidFill>
                <a:latin typeface="Nobile Medium"/>
                <a:ea typeface="Nobile Medium"/>
                <a:cs typeface="Nobile Medium"/>
                <a:sym typeface="Nobile Medium"/>
              </a:rPr>
              <a:t> </a:t>
            </a:r>
            <a:endParaRPr sz="119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190"/>
              <a:buFont typeface="Nobile Medium"/>
              <a:buNone/>
            </a:pPr>
            <a:r>
              <a:rPr lang="en-US" sz="1190">
                <a:solidFill>
                  <a:srgbClr val="1E3063"/>
                </a:solidFill>
                <a:latin typeface="Nobile Medium"/>
                <a:ea typeface="Nobile Medium"/>
                <a:cs typeface="Nobile Medium"/>
                <a:sym typeface="Nobile Medium"/>
              </a:rPr>
              <a:t> </a:t>
            </a:r>
            <a:endParaRPr sz="119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404155"/>
              </a:buClr>
              <a:buSzPts val="1615"/>
              <a:buFont typeface="Corben"/>
              <a:buNone/>
            </a:pPr>
            <a:r>
              <a:rPr lang="en-US" sz="1615">
                <a:solidFill>
                  <a:srgbClr val="404155"/>
                </a:solidFill>
                <a:latin typeface="Corben"/>
                <a:ea typeface="Corben"/>
                <a:cs typeface="Corben"/>
                <a:sym typeface="Corben"/>
              </a:rPr>
              <a:t>Presented By:</a:t>
            </a:r>
            <a:endParaRPr sz="1615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404155"/>
              </a:buClr>
              <a:buSzPts val="1615"/>
              <a:buFont typeface="Corben"/>
              <a:buNone/>
            </a:pPr>
            <a:r>
              <a:rPr lang="en-US" sz="1615">
                <a:solidFill>
                  <a:srgbClr val="404155"/>
                </a:solidFill>
                <a:latin typeface="Corben"/>
                <a:ea typeface="Corben"/>
                <a:cs typeface="Corben"/>
                <a:sym typeface="Corben"/>
              </a:rPr>
              <a:t>• Shafat Iqbal (Student ID: 2306025)</a:t>
            </a:r>
            <a:endParaRPr sz="1615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  <a:p>
            <a:pPr indent="0" lvl="0" marL="0" marR="0" rtl="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404155"/>
              </a:buClr>
              <a:buSzPts val="1615"/>
              <a:buFont typeface="Corben"/>
              <a:buNone/>
            </a:pPr>
            <a:r>
              <a:rPr lang="en-US" sz="1615">
                <a:solidFill>
                  <a:srgbClr val="404155"/>
                </a:solidFill>
                <a:latin typeface="Corben"/>
                <a:ea typeface="Corben"/>
                <a:cs typeface="Corben"/>
                <a:sym typeface="Corben"/>
              </a:rPr>
              <a:t>• Maruf Raihan (Student ID: 2306026)</a:t>
            </a:r>
            <a:endParaRPr sz="1615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"/>
          <p:cNvSpPr txBox="1"/>
          <p:nvPr/>
        </p:nvSpPr>
        <p:spPr>
          <a:xfrm>
            <a:off x="972775" y="979750"/>
            <a:ext cx="24669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F2537"/>
                </a:solidFill>
                <a:latin typeface="Corben"/>
                <a:ea typeface="Corben"/>
                <a:cs typeface="Corben"/>
                <a:sym typeface="Corben"/>
              </a:rPr>
              <a:t>Outline</a:t>
            </a:r>
            <a:endParaRPr sz="280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</p:txBody>
      </p:sp>
      <p:pic>
        <p:nvPicPr>
          <p:cNvPr id="49" name="Google Shape;4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5975" y="1934042"/>
            <a:ext cx="10601198" cy="34969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"/>
          <p:cNvSpPr txBox="1"/>
          <p:nvPr/>
        </p:nvSpPr>
        <p:spPr>
          <a:xfrm>
            <a:off x="457199" y="1330122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High-Level Overview of the Analog PID Controller</a:t>
            </a:r>
            <a:endParaRPr/>
          </a:p>
        </p:txBody>
      </p:sp>
      <p:sp>
        <p:nvSpPr>
          <p:cNvPr id="55" name="Google Shape;55;p3"/>
          <p:cNvSpPr/>
          <p:nvPr/>
        </p:nvSpPr>
        <p:spPr>
          <a:xfrm>
            <a:off x="457199" y="1828800"/>
            <a:ext cx="147689" cy="877163"/>
          </a:xfrm>
          <a:prstGeom prst="roundRect">
            <a:avLst>
              <a:gd fmla="val 1666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3"/>
          <p:cNvSpPr txBox="1"/>
          <p:nvPr/>
        </p:nvSpPr>
        <p:spPr>
          <a:xfrm>
            <a:off x="731520" y="1828800"/>
            <a:ext cx="5415280" cy="8771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Core Objective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Design and OrCAD/PSpice 9.2 simulation of a closed-loop analog PID controller for permanent-magnet DC motor speed regulation.</a:t>
            </a:r>
            <a:endParaRPr/>
          </a:p>
        </p:txBody>
      </p:sp>
      <p:sp>
        <p:nvSpPr>
          <p:cNvPr id="57" name="Google Shape;57;p3"/>
          <p:cNvSpPr/>
          <p:nvPr/>
        </p:nvSpPr>
        <p:spPr>
          <a:xfrm>
            <a:off x="406399" y="2913484"/>
            <a:ext cx="147689" cy="745083"/>
          </a:xfrm>
          <a:prstGeom prst="roundRect">
            <a:avLst>
              <a:gd fmla="val 1666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3"/>
          <p:cNvSpPr txBox="1"/>
          <p:nvPr/>
        </p:nvSpPr>
        <p:spPr>
          <a:xfrm>
            <a:off x="680720" y="2781404"/>
            <a:ext cx="5415280" cy="8771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Circuit Architecture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Incorporates a scaled difference amplifier, proportional, integral, and derivative op-amp stages, and a complementary BJT power-output stage</a:t>
            </a:r>
            <a:endParaRPr/>
          </a:p>
        </p:txBody>
      </p:sp>
      <p:sp>
        <p:nvSpPr>
          <p:cNvPr id="59" name="Google Shape;59;p3"/>
          <p:cNvSpPr/>
          <p:nvPr/>
        </p:nvSpPr>
        <p:spPr>
          <a:xfrm>
            <a:off x="6502399" y="1965960"/>
            <a:ext cx="147689" cy="877163"/>
          </a:xfrm>
          <a:prstGeom prst="roundRect">
            <a:avLst>
              <a:gd fmla="val 1666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3"/>
          <p:cNvSpPr txBox="1"/>
          <p:nvPr/>
        </p:nvSpPr>
        <p:spPr>
          <a:xfrm>
            <a:off x="6776720" y="1965960"/>
            <a:ext cx="5415280" cy="8771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Performance Verification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System mathematically tuned to strictly satisfy overshoot (Mp ≤ 15%), rise time (tr ≤ 1.0 s), and settling time (ts ≤ 3.0 s) criteria</a:t>
            </a:r>
            <a:endParaRPr/>
          </a:p>
        </p:txBody>
      </p:sp>
      <p:sp>
        <p:nvSpPr>
          <p:cNvPr id="61" name="Google Shape;61;p3"/>
          <p:cNvSpPr/>
          <p:nvPr/>
        </p:nvSpPr>
        <p:spPr>
          <a:xfrm>
            <a:off x="6525443" y="2978408"/>
            <a:ext cx="147689" cy="749855"/>
          </a:xfrm>
          <a:prstGeom prst="roundRect">
            <a:avLst>
              <a:gd fmla="val 1666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 txBox="1"/>
          <p:nvPr/>
        </p:nvSpPr>
        <p:spPr>
          <a:xfrm>
            <a:off x="6776720" y="2908543"/>
            <a:ext cx="5415280" cy="8771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Disturbance Rejection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Analyzed speed deviation and recovery following applied load changes, proving the integral stage eliminates steady-state error</a:t>
            </a:r>
            <a:endParaRPr/>
          </a:p>
        </p:txBody>
      </p:sp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4887" y="3920991"/>
            <a:ext cx="10485143" cy="2877837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3"/>
          <p:cNvSpPr txBox="1"/>
          <p:nvPr/>
        </p:nvSpPr>
        <p:spPr>
          <a:xfrm>
            <a:off x="457199" y="794514"/>
            <a:ext cx="2119491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orben"/>
                <a:ea typeface="Corben"/>
                <a:cs typeface="Corben"/>
                <a:sym typeface="Corben"/>
              </a:rPr>
              <a:t>1. Summary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70" name="Google Shape;7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76504" y="65589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71" name="Google Shape;71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86425" y="6448425"/>
            <a:ext cx="2104972" cy="4095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4"/>
          <p:cNvSpPr/>
          <p:nvPr/>
        </p:nvSpPr>
        <p:spPr>
          <a:xfrm>
            <a:off x="609585" y="844279"/>
            <a:ext cx="7765657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404155"/>
              </a:buClr>
              <a:buSzPts val="2400"/>
              <a:buFont typeface="Corben"/>
              <a:buNone/>
            </a:pPr>
            <a:r>
              <a:rPr b="1" lang="en-US" sz="2400">
                <a:solidFill>
                  <a:srgbClr val="404155"/>
                </a:solidFill>
                <a:latin typeface="Corben"/>
                <a:ea typeface="Corben"/>
                <a:cs typeface="Corben"/>
                <a:sym typeface="Corben"/>
              </a:rPr>
              <a:t>2. INTRODUCTION &amp; MOTIVATION</a:t>
            </a:r>
            <a:endParaRPr b="1" sz="240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609585" y="1701242"/>
            <a:ext cx="6546488" cy="12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400"/>
              <a:buFont typeface="Instrument Sans Medium"/>
              <a:buNone/>
            </a:pPr>
            <a:r>
              <a:rPr lang="en-US" sz="2400">
                <a:solidFill>
                  <a:srgbClr val="091C5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Why precise motor speed control matters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4"/>
          <p:cNvSpPr/>
          <p:nvPr/>
        </p:nvSpPr>
        <p:spPr>
          <a:xfrm>
            <a:off x="609585" y="2417762"/>
            <a:ext cx="6706821" cy="568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None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DC motors power systems where speed stability affects performance, safety, and product quality.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"/>
          <p:cNvSpPr/>
          <p:nvPr/>
        </p:nvSpPr>
        <p:spPr>
          <a:xfrm>
            <a:off x="609585" y="3521075"/>
            <a:ext cx="6546488" cy="5476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800"/>
              <a:buFont typeface="Instrument Sans Medium"/>
              <a:buNone/>
            </a:pPr>
            <a:r>
              <a:rPr lang="en-US" sz="2800">
                <a:solidFill>
                  <a:srgbClr val="091C5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The challenge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4"/>
          <p:cNvSpPr/>
          <p:nvPr/>
        </p:nvSpPr>
        <p:spPr>
          <a:xfrm>
            <a:off x="609585" y="4134445"/>
            <a:ext cx="6546488" cy="568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None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Load changes and motor back-EMF can cause speed droop, while aggressive correction can create overshoot and oscillation.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4"/>
          <p:cNvSpPr/>
          <p:nvPr/>
        </p:nvSpPr>
        <p:spPr>
          <a:xfrm>
            <a:off x="609585" y="5303539"/>
            <a:ext cx="6546488" cy="5476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400"/>
              <a:buFont typeface="Instrument Sans Medium"/>
              <a:buNone/>
            </a:pPr>
            <a:r>
              <a:rPr lang="en-US" sz="2400">
                <a:solidFill>
                  <a:srgbClr val="091C5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Our motivation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4"/>
          <p:cNvSpPr/>
          <p:nvPr/>
        </p:nvSpPr>
        <p:spPr>
          <a:xfrm>
            <a:off x="609585" y="5851227"/>
            <a:ext cx="6546488" cy="568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None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Design and validate an analog PID controller that delivers fast, stable, accurate speed regulation using measurable performance targets.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9" name="Google Shape;79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889480" y="1562100"/>
            <a:ext cx="2692134" cy="1514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80" name="Google Shape;80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889480" y="3521075"/>
            <a:ext cx="2692134" cy="1514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5"/>
          <p:cNvSpPr txBox="1"/>
          <p:nvPr/>
        </p:nvSpPr>
        <p:spPr>
          <a:xfrm>
            <a:off x="661376" y="1263757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8892B0"/>
                </a:solidFill>
                <a:latin typeface="Calibri"/>
                <a:ea typeface="Calibri"/>
                <a:cs typeface="Calibri"/>
                <a:sym typeface="Calibri"/>
              </a:rPr>
              <a:t>System Performance Criteria and Motor Parameters</a:t>
            </a:r>
            <a:endParaRPr/>
          </a:p>
        </p:txBody>
      </p:sp>
      <p:sp>
        <p:nvSpPr>
          <p:cNvPr id="86" name="Google Shape;86;p5"/>
          <p:cNvSpPr/>
          <p:nvPr/>
        </p:nvSpPr>
        <p:spPr>
          <a:xfrm>
            <a:off x="731520" y="1828800"/>
            <a:ext cx="2011680" cy="1097280"/>
          </a:xfrm>
          <a:prstGeom prst="roundRect">
            <a:avLst>
              <a:gd fmla="val 16667" name="adj"/>
            </a:avLst>
          </a:prstGeom>
          <a:solidFill>
            <a:srgbClr val="0A192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 txBox="1"/>
          <p:nvPr/>
        </p:nvSpPr>
        <p:spPr>
          <a:xfrm>
            <a:off x="731520" y="19202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64FFDA"/>
                </a:solidFill>
                <a:latin typeface="Calibri"/>
                <a:ea typeface="Calibri"/>
                <a:cs typeface="Calibri"/>
                <a:sym typeface="Calibri"/>
              </a:rPr>
              <a:t>Max Overshoot (Mp)</a:t>
            </a:r>
            <a:endParaRPr/>
          </a:p>
        </p:txBody>
      </p:sp>
      <p:sp>
        <p:nvSpPr>
          <p:cNvPr id="88" name="Google Shape;88;p5"/>
          <p:cNvSpPr txBox="1"/>
          <p:nvPr/>
        </p:nvSpPr>
        <p:spPr>
          <a:xfrm>
            <a:off x="731520" y="219456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&lt; 15.0%</a:t>
            </a:r>
            <a:endParaRPr/>
          </a:p>
        </p:txBody>
      </p:sp>
      <p:sp>
        <p:nvSpPr>
          <p:cNvPr id="89" name="Google Shape;89;p5"/>
          <p:cNvSpPr/>
          <p:nvPr/>
        </p:nvSpPr>
        <p:spPr>
          <a:xfrm>
            <a:off x="2926080" y="1828800"/>
            <a:ext cx="2011680" cy="1097280"/>
          </a:xfrm>
          <a:prstGeom prst="roundRect">
            <a:avLst>
              <a:gd fmla="val 16667" name="adj"/>
            </a:avLst>
          </a:prstGeom>
          <a:solidFill>
            <a:srgbClr val="0A192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 txBox="1"/>
          <p:nvPr/>
        </p:nvSpPr>
        <p:spPr>
          <a:xfrm>
            <a:off x="2926080" y="19202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64FFDA"/>
                </a:solidFill>
                <a:latin typeface="Calibri"/>
                <a:ea typeface="Calibri"/>
                <a:cs typeface="Calibri"/>
                <a:sym typeface="Calibri"/>
              </a:rPr>
              <a:t>Rise Time (tr)</a:t>
            </a:r>
            <a:endParaRPr/>
          </a:p>
        </p:txBody>
      </p:sp>
      <p:sp>
        <p:nvSpPr>
          <p:cNvPr id="91" name="Google Shape;91;p5"/>
          <p:cNvSpPr txBox="1"/>
          <p:nvPr/>
        </p:nvSpPr>
        <p:spPr>
          <a:xfrm>
            <a:off x="2926080" y="219456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&lt; 1.0 s</a:t>
            </a:r>
            <a:endParaRPr/>
          </a:p>
        </p:txBody>
      </p:sp>
      <p:sp>
        <p:nvSpPr>
          <p:cNvPr id="92" name="Google Shape;92;p5"/>
          <p:cNvSpPr/>
          <p:nvPr/>
        </p:nvSpPr>
        <p:spPr>
          <a:xfrm>
            <a:off x="5120640" y="1828800"/>
            <a:ext cx="2011680" cy="1097280"/>
          </a:xfrm>
          <a:prstGeom prst="roundRect">
            <a:avLst>
              <a:gd fmla="val 16667" name="adj"/>
            </a:avLst>
          </a:prstGeom>
          <a:solidFill>
            <a:srgbClr val="0A192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5"/>
          <p:cNvSpPr txBox="1"/>
          <p:nvPr/>
        </p:nvSpPr>
        <p:spPr>
          <a:xfrm>
            <a:off x="5120640" y="19202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64FFDA"/>
                </a:solidFill>
                <a:latin typeface="Calibri"/>
                <a:ea typeface="Calibri"/>
                <a:cs typeface="Calibri"/>
                <a:sym typeface="Calibri"/>
              </a:rPr>
              <a:t>Settling Time (ts)</a:t>
            </a:r>
            <a:endParaRPr/>
          </a:p>
        </p:txBody>
      </p:sp>
      <p:sp>
        <p:nvSpPr>
          <p:cNvPr id="94" name="Google Shape;94;p5"/>
          <p:cNvSpPr txBox="1"/>
          <p:nvPr/>
        </p:nvSpPr>
        <p:spPr>
          <a:xfrm>
            <a:off x="5120640" y="219456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&lt; 3.0 s</a:t>
            </a:r>
            <a:endParaRPr/>
          </a:p>
        </p:txBody>
      </p:sp>
      <p:sp>
        <p:nvSpPr>
          <p:cNvPr id="95" name="Google Shape;95;p5"/>
          <p:cNvSpPr/>
          <p:nvPr/>
        </p:nvSpPr>
        <p:spPr>
          <a:xfrm>
            <a:off x="7315200" y="1828800"/>
            <a:ext cx="2011680" cy="1097280"/>
          </a:xfrm>
          <a:prstGeom prst="roundRect">
            <a:avLst>
              <a:gd fmla="val 16667" name="adj"/>
            </a:avLst>
          </a:prstGeom>
          <a:solidFill>
            <a:srgbClr val="0A192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 txBox="1"/>
          <p:nvPr/>
        </p:nvSpPr>
        <p:spPr>
          <a:xfrm>
            <a:off x="7315200" y="19202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64FFDA"/>
                </a:solidFill>
                <a:latin typeface="Calibri"/>
                <a:ea typeface="Calibri"/>
                <a:cs typeface="Calibri"/>
                <a:sym typeface="Calibri"/>
              </a:rPr>
              <a:t>Steady-State Error</a:t>
            </a:r>
            <a:endParaRPr/>
          </a:p>
        </p:txBody>
      </p:sp>
      <p:sp>
        <p:nvSpPr>
          <p:cNvPr id="97" name="Google Shape;97;p5"/>
          <p:cNvSpPr txBox="1"/>
          <p:nvPr/>
        </p:nvSpPr>
        <p:spPr>
          <a:xfrm>
            <a:off x="7315200" y="2194560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&lt; 0.05 V</a:t>
            </a:r>
            <a:endParaRPr/>
          </a:p>
        </p:txBody>
      </p:sp>
      <p:sp>
        <p:nvSpPr>
          <p:cNvPr id="98" name="Google Shape;98;p5"/>
          <p:cNvSpPr txBox="1"/>
          <p:nvPr/>
        </p:nvSpPr>
        <p:spPr>
          <a:xfrm>
            <a:off x="731520" y="3300561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Permanent Magnet DC Plant</a:t>
            </a:r>
            <a:endParaRPr/>
          </a:p>
        </p:txBody>
      </p:sp>
      <p:sp>
        <p:nvSpPr>
          <p:cNvPr id="99" name="Google Shape;99;p5"/>
          <p:cNvSpPr txBox="1"/>
          <p:nvPr/>
        </p:nvSpPr>
        <p:spPr>
          <a:xfrm>
            <a:off x="755748" y="3508565"/>
            <a:ext cx="36576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• Armature Resistance (Ra): 2.0 Ω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• Torque Constant (Kt): 0.05 N·m/A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• Rotor Inertia (J): 0.01 kg·m²</a:t>
            </a:r>
            <a:endParaRPr/>
          </a:p>
        </p:txBody>
      </p:sp>
      <p:sp>
        <p:nvSpPr>
          <p:cNvPr id="100" name="Google Shape;100;p5"/>
          <p:cNvSpPr txBox="1"/>
          <p:nvPr/>
        </p:nvSpPr>
        <p:spPr>
          <a:xfrm>
            <a:off x="755748" y="4751754"/>
            <a:ext cx="36576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• Armature Inductance (La): 20.0 mH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• Back-EMF Const (Kb): 0.05 V·s/rad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• Viscous Damping (B): 0.01 N·m·s/rad</a:t>
            </a:r>
            <a:endParaRPr/>
          </a:p>
        </p:txBody>
      </p:sp>
      <p:sp>
        <p:nvSpPr>
          <p:cNvPr id="101" name="Google Shape;101;p5"/>
          <p:cNvSpPr/>
          <p:nvPr/>
        </p:nvSpPr>
        <p:spPr>
          <a:xfrm>
            <a:off x="755748" y="698158"/>
            <a:ext cx="10753754" cy="49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B1B27"/>
              </a:buClr>
              <a:buSzPts val="2800"/>
              <a:buFont typeface="Corben"/>
              <a:buNone/>
            </a:pPr>
            <a:r>
              <a:rPr lang="en-US" sz="2800">
                <a:solidFill>
                  <a:srgbClr val="1B1B27"/>
                </a:solidFill>
                <a:latin typeface="Corben"/>
                <a:ea typeface="Corben"/>
                <a:cs typeface="Corben"/>
                <a:sym typeface="Corben"/>
              </a:rPr>
              <a:t>3.Design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2" name="Google Shape;10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11974" y="2926079"/>
            <a:ext cx="5216764" cy="39036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08" name="Google Shape;10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76504" y="65589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09" name="Google Shape;109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76206" y="65588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10" name="Google Shape;110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86425" y="6459041"/>
            <a:ext cx="2104972" cy="409575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6"/>
          <p:cNvSpPr/>
          <p:nvPr/>
        </p:nvSpPr>
        <p:spPr>
          <a:xfrm>
            <a:off x="661376" y="811113"/>
            <a:ext cx="10753754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800"/>
              <a:buFont typeface="Corben"/>
              <a:buNone/>
            </a:pPr>
            <a:r>
              <a:rPr lang="en-US" sz="2800">
                <a:solidFill>
                  <a:srgbClr val="091C53"/>
                </a:solidFill>
                <a:latin typeface="Corben"/>
                <a:ea typeface="Corben"/>
                <a:cs typeface="Corben"/>
                <a:sym typeface="Corben"/>
              </a:rPr>
              <a:t>3.1 Plant Modeling: The DC Motor Equivalent</a:t>
            </a:r>
            <a:endParaRPr sz="280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661376" y="1405929"/>
            <a:ext cx="10753754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1800"/>
              <a:buFont typeface="Instrument Sans SemiBold"/>
              <a:buNone/>
            </a:pPr>
            <a:r>
              <a:rPr b="1" lang="en-US" sz="180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Differential Equations Governing the Electromechanical System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661376" y="1927225"/>
            <a:ext cx="7490828" cy="2791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"/>
              <a:buNone/>
            </a:pPr>
            <a:r>
              <a:rPr b="1" lang="en-US" sz="140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Electrical Subsystem (Armature):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4" name="Google Shape;114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794326" y="2437507"/>
            <a:ext cx="3545096" cy="52665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6"/>
          <p:cNvSpPr/>
          <p:nvPr/>
        </p:nvSpPr>
        <p:spPr>
          <a:xfrm>
            <a:off x="661376" y="3190974"/>
            <a:ext cx="7490828" cy="2791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"/>
              <a:buNone/>
            </a:pPr>
            <a:r>
              <a:rPr b="1" lang="en-US" sz="140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Mechanical Subsystem (Rotor):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6" name="Google Shape;116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895924" y="3701355"/>
            <a:ext cx="3342001" cy="526653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6"/>
          <p:cNvSpPr/>
          <p:nvPr/>
        </p:nvSpPr>
        <p:spPr>
          <a:xfrm>
            <a:off x="609689" y="4810720"/>
            <a:ext cx="5914500" cy="8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None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Coupled Dynamics: Injected armature current generates torque ( ), accelerating the rotor. The rotating shaft produces opposing back-EMF  naturally limiting maximum speed.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8" name="Google Shape;118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962798" y="4810720"/>
            <a:ext cx="547079" cy="2391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19" name="Google Shape;119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948363" y="4810719"/>
            <a:ext cx="501737" cy="2391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0" name="Google Shape;120;p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962798" y="1994892"/>
            <a:ext cx="5728053" cy="31270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7"/>
          <p:cNvSpPr txBox="1"/>
          <p:nvPr/>
        </p:nvSpPr>
        <p:spPr>
          <a:xfrm>
            <a:off x="708465" y="758215"/>
            <a:ext cx="5088252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A192F"/>
                </a:solidFill>
                <a:latin typeface="Corben"/>
                <a:ea typeface="Corben"/>
                <a:cs typeface="Corben"/>
                <a:sym typeface="Corben"/>
              </a:rPr>
              <a:t>3.2 System Transfer Function</a:t>
            </a:r>
            <a:endParaRPr/>
          </a:p>
        </p:txBody>
      </p:sp>
      <p:sp>
        <p:nvSpPr>
          <p:cNvPr id="126" name="Google Shape;126;p7"/>
          <p:cNvSpPr txBox="1"/>
          <p:nvPr/>
        </p:nvSpPr>
        <p:spPr>
          <a:xfrm>
            <a:off x="746690" y="1671075"/>
            <a:ext cx="10698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8892B0"/>
                </a:solidFill>
                <a:latin typeface="Calibri"/>
                <a:ea typeface="Calibri"/>
                <a:cs typeface="Calibri"/>
                <a:sym typeface="Calibri"/>
              </a:rPr>
              <a:t>Laplace-Domain Plant Model Formulation</a:t>
            </a:r>
            <a:endParaRPr/>
          </a:p>
        </p:txBody>
      </p:sp>
      <p:sp>
        <p:nvSpPr>
          <p:cNvPr id="127" name="Google Shape;127;p7"/>
          <p:cNvSpPr txBox="1"/>
          <p:nvPr/>
        </p:nvSpPr>
        <p:spPr>
          <a:xfrm>
            <a:off x="731520" y="2162825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Combined Plant Transfer Function:</a:t>
            </a:r>
            <a:endParaRPr/>
          </a:p>
        </p:txBody>
      </p:sp>
      <p:pic>
        <p:nvPicPr>
          <p:cNvPr descr="eq_sym.png" id="128" name="Google Shape;12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2286000"/>
            <a:ext cx="5486400" cy="1160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7"/>
          <p:cNvSpPr txBox="1"/>
          <p:nvPr/>
        </p:nvSpPr>
        <p:spPr>
          <a:xfrm>
            <a:off x="731520" y="411480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Numerical Characteristic Polynomial:</a:t>
            </a:r>
            <a:endParaRPr/>
          </a:p>
        </p:txBody>
      </p:sp>
      <p:pic>
        <p:nvPicPr>
          <p:cNvPr descr="eq_num.png" id="130" name="Google Shape;13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305" y="4343400"/>
            <a:ext cx="5486400" cy="1160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31" name="Google Shape;131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86548" y="3324116"/>
            <a:ext cx="5945733" cy="2180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37" name="Google Shape;13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76504" y="65589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38" name="Google Shape;138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76206" y="65588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39" name="Google Shape;139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86425" y="6433641"/>
            <a:ext cx="2104972" cy="409575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8"/>
          <p:cNvSpPr/>
          <p:nvPr/>
        </p:nvSpPr>
        <p:spPr>
          <a:xfrm>
            <a:off x="661376" y="826343"/>
            <a:ext cx="11473072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200"/>
              <a:buFont typeface="Corben"/>
              <a:buNone/>
            </a:pPr>
            <a:r>
              <a:rPr lang="en-US" sz="3200">
                <a:solidFill>
                  <a:srgbClr val="091C53"/>
                </a:solidFill>
                <a:latin typeface="Corben"/>
                <a:ea typeface="Corben"/>
                <a:cs typeface="Corben"/>
                <a:sym typeface="Corben"/>
              </a:rPr>
              <a:t>3.3 Analog Circuit Design: Error &amp; Proportional Stages</a:t>
            </a:r>
            <a:endParaRPr sz="320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</p:txBody>
      </p:sp>
      <p:sp>
        <p:nvSpPr>
          <p:cNvPr id="141" name="Google Shape;141;p8"/>
          <p:cNvSpPr/>
          <p:nvPr/>
        </p:nvSpPr>
        <p:spPr>
          <a:xfrm>
            <a:off x="661376" y="1590377"/>
            <a:ext cx="10753754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1800"/>
              <a:buFont typeface="Instrument Sans SemiBold"/>
              <a:buNone/>
            </a:pPr>
            <a:r>
              <a:rPr b="1" lang="en-US" sz="180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Implementing Subtraction and Proportional Gain via Op-Amps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661376" y="2304752"/>
            <a:ext cx="7490828" cy="2791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"/>
              <a:buNone/>
            </a:pPr>
            <a:r>
              <a:rPr b="1" lang="en-US" sz="140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Error Subtractor Stage: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661376" y="2752824"/>
            <a:ext cx="7516228" cy="2791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4480" lvl="0" marL="28448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 differential amplifier topology computes           .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4" name="Google Shape;144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80121" y="2800945"/>
            <a:ext cx="1746306" cy="239117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8"/>
          <p:cNvSpPr/>
          <p:nvPr/>
        </p:nvSpPr>
        <p:spPr>
          <a:xfrm>
            <a:off x="661376" y="3120430"/>
            <a:ext cx="5776371" cy="5582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284480" lvl="0" marL="28448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Uses  matched resistors to ensure high Common Mode Rejection Ratio (CMRR).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6" name="Google Shape;146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733246" y="5910759"/>
            <a:ext cx="536562" cy="239117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8"/>
          <p:cNvSpPr/>
          <p:nvPr/>
        </p:nvSpPr>
        <p:spPr>
          <a:xfrm>
            <a:off x="6437846" y="2276177"/>
            <a:ext cx="6271659" cy="2791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None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Proportional Gain Stage (   ):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48" name="Google Shape;148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651460" y="2311598"/>
            <a:ext cx="223733" cy="24001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8"/>
          <p:cNvSpPr/>
          <p:nvPr/>
        </p:nvSpPr>
        <p:spPr>
          <a:xfrm>
            <a:off x="6437846" y="2724249"/>
            <a:ext cx="6297058" cy="2791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4480" lvl="0" marL="28448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Inverting amplifier topology with                          .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0" name="Google Shape;150;p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502653" y="2765028"/>
            <a:ext cx="1023813" cy="239117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8"/>
          <p:cNvSpPr/>
          <p:nvPr/>
        </p:nvSpPr>
        <p:spPr>
          <a:xfrm>
            <a:off x="6437846" y="3091855"/>
            <a:ext cx="6297058" cy="2791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4480" lvl="0" marL="28448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Hardware Tuning: Feedback resistor finalized at 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2" name="Google Shape;152;p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814573" y="3140174"/>
            <a:ext cx="994246" cy="239117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8"/>
          <p:cNvSpPr/>
          <p:nvPr/>
        </p:nvSpPr>
        <p:spPr>
          <a:xfrm>
            <a:off x="6437846" y="3459460"/>
            <a:ext cx="6297058" cy="2791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4480" lvl="0" marL="28448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Yields a calibrated stage gain of                   .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4" name="Google Shape;154;p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432887" y="3507680"/>
            <a:ext cx="690446" cy="2391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55" name="Google Shape;155;p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247446" y="3682206"/>
            <a:ext cx="3808714" cy="30575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56" name="Google Shape;156;p8"/>
          <p:cNvPicPr preferRelativeResize="0"/>
          <p:nvPr/>
        </p:nvPicPr>
        <p:blipFill rotWithShape="1">
          <a:blip r:embed="rId13">
            <a:alphaModFix/>
          </a:blip>
          <a:srcRect b="0" l="0" r="0" t="6626"/>
          <a:stretch/>
        </p:blipFill>
        <p:spPr>
          <a:xfrm>
            <a:off x="6437846" y="3818731"/>
            <a:ext cx="3933032" cy="26657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2" name="Google Shape;162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76504" y="65589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63" name="Google Shape;163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76206" y="65588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64" name="Google Shape;164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86425" y="6448425"/>
            <a:ext cx="2104972" cy="409575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9"/>
          <p:cNvSpPr/>
          <p:nvPr/>
        </p:nvSpPr>
        <p:spPr>
          <a:xfrm>
            <a:off x="661376" y="799803"/>
            <a:ext cx="11473072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200"/>
              <a:buFont typeface="Corben"/>
              <a:buNone/>
            </a:pPr>
            <a:r>
              <a:rPr lang="en-US" sz="3200">
                <a:solidFill>
                  <a:srgbClr val="091C53"/>
                </a:solidFill>
                <a:latin typeface="Corben"/>
                <a:ea typeface="Corben"/>
                <a:cs typeface="Corben"/>
                <a:sym typeface="Corben"/>
              </a:rPr>
              <a:t>3.3.1 Analog Circuit Design: Integral &amp; Derivative Stages</a:t>
            </a:r>
            <a:endParaRPr sz="320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661376" y="1507133"/>
            <a:ext cx="10753754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1800"/>
              <a:buFont typeface="Instrument Sans SemiBold"/>
              <a:buNone/>
            </a:pPr>
            <a:r>
              <a:rPr b="1" lang="en-US" sz="180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Realizing Continuous Integration and Active Damping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/>
          <p:nvPr/>
        </p:nvSpPr>
        <p:spPr>
          <a:xfrm>
            <a:off x="661376" y="2064544"/>
            <a:ext cx="7490828" cy="2791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None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Integral   Gain Stage ( ):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8" name="Google Shape;168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440919" y="2100163"/>
            <a:ext cx="203790" cy="24001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9"/>
          <p:cNvSpPr/>
          <p:nvPr/>
        </p:nvSpPr>
        <p:spPr>
          <a:xfrm>
            <a:off x="661376" y="2512616"/>
            <a:ext cx="5776371" cy="5582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284480" lvl="0" marL="28448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Active Miller integrator holds accumulated charge to force steady-state error  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0" name="Google Shape;170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644907" y="2849364"/>
            <a:ext cx="577141" cy="239117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9"/>
          <p:cNvSpPr/>
          <p:nvPr/>
        </p:nvSpPr>
        <p:spPr>
          <a:xfrm>
            <a:off x="661376" y="3168650"/>
            <a:ext cx="7516228" cy="2791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4480" lvl="0" marL="28448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Circuit components tuned to yield                           .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2" name="Google Shape;172;p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872113" y="3216870"/>
            <a:ext cx="1133546" cy="239117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9"/>
          <p:cNvSpPr/>
          <p:nvPr/>
        </p:nvSpPr>
        <p:spPr>
          <a:xfrm>
            <a:off x="6249037" y="2107803"/>
            <a:ext cx="6271659" cy="2791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None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Derivative Gain    Stage ( ):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4" name="Google Shape;174;p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234454" y="2143323"/>
            <a:ext cx="225915" cy="24001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9"/>
          <p:cNvSpPr/>
          <p:nvPr/>
        </p:nvSpPr>
        <p:spPr>
          <a:xfrm>
            <a:off x="6249037" y="2555875"/>
            <a:ext cx="5776371" cy="5582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284480" lvl="0" marL="28448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Damped differentiator limits high-frequency noise amplification from the tachometer.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9"/>
          <p:cNvSpPr/>
          <p:nvPr/>
        </p:nvSpPr>
        <p:spPr>
          <a:xfrm>
            <a:off x="6249037" y="3194645"/>
            <a:ext cx="5942658" cy="27910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4480" lvl="0" marL="284480" marR="0" rtl="0" algn="l">
              <a:lnSpc>
                <a:spcPct val="131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Char char="•"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Hardware gain constant configured to  for optimal phase lead.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7" name="Google Shape;177;p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606613" y="3473946"/>
            <a:ext cx="897213" cy="23911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78" name="Google Shape;178;p9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94425" y="3638649"/>
            <a:ext cx="3644412" cy="262949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79" name="Google Shape;179;p9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437846" y="3760192"/>
            <a:ext cx="4447865" cy="2505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85" name="Google Shape;185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76504" y="65589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86" name="Google Shape;186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76206" y="65588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87" name="Google Shape;187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88112" y="6448425"/>
            <a:ext cx="2104972" cy="409575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0"/>
          <p:cNvSpPr/>
          <p:nvPr/>
        </p:nvSpPr>
        <p:spPr>
          <a:xfrm>
            <a:off x="661376" y="766266"/>
            <a:ext cx="11473072" cy="587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200"/>
              <a:buFont typeface="Corben"/>
              <a:buNone/>
            </a:pPr>
            <a:r>
              <a:rPr lang="en-US" sz="3200">
                <a:solidFill>
                  <a:srgbClr val="091C53"/>
                </a:solidFill>
                <a:latin typeface="Corben"/>
                <a:ea typeface="Corben"/>
                <a:cs typeface="Corben"/>
                <a:sym typeface="Corben"/>
              </a:rPr>
              <a:t>3.3.2 Analog Circuit Design: Summation &amp; Power Drive</a:t>
            </a:r>
            <a:endParaRPr sz="320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</p:txBody>
      </p:sp>
      <p:sp>
        <p:nvSpPr>
          <p:cNvPr id="189" name="Google Shape;189;p10"/>
          <p:cNvSpPr/>
          <p:nvPr/>
        </p:nvSpPr>
        <p:spPr>
          <a:xfrm>
            <a:off x="661376" y="1432520"/>
            <a:ext cx="10753754" cy="2936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1850"/>
              <a:buFont typeface="Instrument Sans SemiBold"/>
              <a:buNone/>
            </a:pPr>
            <a:r>
              <a:rPr b="1" lang="en-US" sz="1850">
                <a:solidFill>
                  <a:srgbClr val="091C5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Combining Control Signals and Driving the Load</a:t>
            </a:r>
            <a:endParaRPr sz="18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661376" y="2190750"/>
            <a:ext cx="7484280" cy="294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50"/>
              <a:buFont typeface="Instrument Sans"/>
              <a:buNone/>
            </a:pPr>
            <a:r>
              <a:rPr b="1" lang="en-US" sz="145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Summing &amp; Inverting Stage: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6553135" y="2190750"/>
            <a:ext cx="3522376" cy="294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50"/>
              <a:buFont typeface="Instrument Sans"/>
              <a:buNone/>
            </a:pPr>
            <a:r>
              <a:rPr b="1" lang="en-US" sz="1450">
                <a:solidFill>
                  <a:srgbClr val="1E3063"/>
                </a:solidFill>
                <a:latin typeface="Instrument Sans"/>
                <a:ea typeface="Instrument Sans"/>
                <a:cs typeface="Instrument Sans"/>
                <a:sym typeface="Instrument Sans"/>
              </a:rPr>
              <a:t>Power Driver Stage: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661376" y="2663230"/>
            <a:ext cx="5098526" cy="5891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294640" lvl="0" marL="29464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50"/>
              <a:buFont typeface="Instrument Sans Medium"/>
              <a:buChar char="•"/>
            </a:pPr>
            <a:r>
              <a:rPr lang="en-US" sz="14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 unity-gain inverting summer combines the parallel channels:  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3" name="Google Shape;193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843736" y="3006923"/>
            <a:ext cx="2017662" cy="250428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0"/>
          <p:cNvSpPr/>
          <p:nvPr/>
        </p:nvSpPr>
        <p:spPr>
          <a:xfrm>
            <a:off x="661376" y="3344466"/>
            <a:ext cx="5210640" cy="5891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294640" lvl="0" marL="29464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50"/>
              <a:buFont typeface="Instrument Sans Medium"/>
              <a:buChar char="•"/>
            </a:pPr>
            <a:r>
              <a:rPr lang="en-US" sz="14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A subsequent inverting buffer restores correct polarity to generate the final Controller Output (      ).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5" name="Google Shape;195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127198" y="3688259"/>
            <a:ext cx="291200" cy="250428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0"/>
          <p:cNvSpPr/>
          <p:nvPr/>
        </p:nvSpPr>
        <p:spPr>
          <a:xfrm>
            <a:off x="6553135" y="2663230"/>
            <a:ext cx="5536466" cy="8837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294640" lvl="0" marL="29464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50"/>
              <a:buFont typeface="Instrument Sans Medium"/>
              <a:buChar char="•"/>
            </a:pPr>
            <a:r>
              <a:rPr lang="en-US" sz="145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High-current Push-Pull BJT/MOSFET bridge injects the required armature current into the motor plant based on the CO  voltage.</a:t>
            </a:r>
            <a:endParaRPr sz="14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7" name="Google Shape;197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158945" y="4159349"/>
            <a:ext cx="4215501" cy="228887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98" name="Google Shape;198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86425" y="3608784"/>
            <a:ext cx="2104972" cy="409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10"/>
          <p:cNvPicPr preferRelativeResize="0"/>
          <p:nvPr/>
        </p:nvPicPr>
        <p:blipFill rotWithShape="1">
          <a:blip r:embed="rId9">
            <a:alphaModFix/>
          </a:blip>
          <a:srcRect b="6375" l="11245" r="12942" t="24718"/>
          <a:stretch/>
        </p:blipFill>
        <p:spPr>
          <a:xfrm>
            <a:off x="6540008" y="3546971"/>
            <a:ext cx="5210640" cy="32911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05" name="Google Shape;205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76504" y="65589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06" name="Google Shape;206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86425" y="6448425"/>
            <a:ext cx="2104972" cy="409575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11"/>
          <p:cNvSpPr/>
          <p:nvPr/>
        </p:nvSpPr>
        <p:spPr>
          <a:xfrm>
            <a:off x="662194" y="661194"/>
            <a:ext cx="11524962" cy="6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3600"/>
              <a:buFont typeface="Corben"/>
              <a:buNone/>
            </a:pPr>
            <a:r>
              <a:rPr lang="en-US" sz="3600">
                <a:solidFill>
                  <a:srgbClr val="091C53"/>
                </a:solidFill>
                <a:latin typeface="Corben"/>
                <a:ea typeface="Corben"/>
                <a:cs typeface="Corben"/>
                <a:sym typeface="Corben"/>
              </a:rPr>
              <a:t>4. Implementation</a:t>
            </a:r>
            <a:endParaRPr sz="360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</p:txBody>
      </p:sp>
      <p:sp>
        <p:nvSpPr>
          <p:cNvPr id="208" name="Google Shape;208;p11"/>
          <p:cNvSpPr/>
          <p:nvPr/>
        </p:nvSpPr>
        <p:spPr>
          <a:xfrm>
            <a:off x="655807" y="2328961"/>
            <a:ext cx="2922118" cy="936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000"/>
              <a:buFont typeface="Instrument Sans Medium"/>
              <a:buNone/>
            </a:pPr>
            <a:r>
              <a:rPr lang="en-US" sz="2000">
                <a:solidFill>
                  <a:srgbClr val="091C5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Closed-loop model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1"/>
          <p:cNvSpPr/>
          <p:nvPr/>
        </p:nvSpPr>
        <p:spPr>
          <a:xfrm>
            <a:off x="667038" y="2727424"/>
            <a:ext cx="1456402" cy="28097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None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Reference input → Error amplifier → Analog PID</a:t>
            </a:r>
            <a:endParaRPr/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None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→ Power drive</a:t>
            </a:r>
            <a:endParaRPr/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None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→ DC motor</a:t>
            </a:r>
            <a:endParaRPr/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None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→ Speed feedback</a:t>
            </a:r>
            <a:endParaRPr/>
          </a:p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Medium"/>
              <a:buNone/>
            </a:pPr>
            <a:r>
              <a:rPr lang="en-US" sz="14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 → error stage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1"/>
          <p:cNvSpPr/>
          <p:nvPr/>
        </p:nvSpPr>
        <p:spPr>
          <a:xfrm>
            <a:off x="-328080" y="1320239"/>
            <a:ext cx="72309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400"/>
              <a:buFont typeface="Corben"/>
              <a:buNone/>
            </a:pPr>
            <a:r>
              <a:rPr b="1" lang="en-US" sz="2400">
                <a:solidFill>
                  <a:srgbClr val="091C53"/>
                </a:solidFill>
                <a:latin typeface="Corben"/>
                <a:ea typeface="Corben"/>
                <a:cs typeface="Corben"/>
                <a:sym typeface="Corben"/>
              </a:rPr>
              <a:t>4.1 Complete PSpice circuit</a:t>
            </a:r>
            <a:endParaRPr b="1" sz="240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</p:txBody>
      </p:sp>
      <p:pic>
        <p:nvPicPr>
          <p:cNvPr id="211" name="Google Shape;211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233990" y="1855637"/>
            <a:ext cx="8772921" cy="4592787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1"/>
          <p:cNvSpPr/>
          <p:nvPr/>
        </p:nvSpPr>
        <p:spPr>
          <a:xfrm>
            <a:off x="3430954" y="1812577"/>
            <a:ext cx="8575957" cy="4703317"/>
          </a:xfrm>
          <a:prstGeom prst="rect">
            <a:avLst/>
          </a:prstGeom>
          <a:noFill/>
          <a:ln cap="flat" cmpd="sng" w="952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18" name="Google Shape;218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8068" y="1072356"/>
            <a:ext cx="5123032" cy="55608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19" name="Google Shape;219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76504" y="65589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20" name="Google Shape;220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76206" y="6558855"/>
            <a:ext cx="1071833" cy="255984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12"/>
          <p:cNvSpPr/>
          <p:nvPr/>
        </p:nvSpPr>
        <p:spPr>
          <a:xfrm>
            <a:off x="599366" y="1074836"/>
            <a:ext cx="6468702" cy="44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800"/>
              <a:buFont typeface="Corben"/>
              <a:buNone/>
            </a:pPr>
            <a:r>
              <a:rPr lang="en-US" sz="2800">
                <a:solidFill>
                  <a:srgbClr val="091C53"/>
                </a:solidFill>
                <a:latin typeface="Corben"/>
                <a:ea typeface="Corben"/>
                <a:cs typeface="Corben"/>
                <a:sym typeface="Corben"/>
              </a:rPr>
              <a:t>4.2 Hardware Optimization &amp; Damping</a:t>
            </a:r>
            <a:endParaRPr sz="280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</p:txBody>
      </p:sp>
      <p:sp>
        <p:nvSpPr>
          <p:cNvPr id="222" name="Google Shape;222;p12"/>
          <p:cNvSpPr/>
          <p:nvPr/>
        </p:nvSpPr>
        <p:spPr>
          <a:xfrm>
            <a:off x="715593" y="1982985"/>
            <a:ext cx="59091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000"/>
              <a:buFont typeface="Corben"/>
              <a:buNone/>
            </a:pPr>
            <a:r>
              <a:rPr lang="en-US" sz="2000">
                <a:solidFill>
                  <a:srgbClr val="091C53"/>
                </a:solidFill>
                <a:latin typeface="Corben"/>
                <a:ea typeface="Corben"/>
                <a:cs typeface="Corben"/>
                <a:sym typeface="Corben"/>
              </a:rPr>
              <a:t>Troubleshooting Overshoot in Worst-Case Transients</a:t>
            </a:r>
            <a:endParaRPr sz="200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</p:txBody>
      </p:sp>
      <p:pic>
        <p:nvPicPr>
          <p:cNvPr descr="preencoded.png" id="223" name="Google Shape;223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8718" y="2735560"/>
            <a:ext cx="6296463" cy="1046163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2"/>
          <p:cNvSpPr/>
          <p:nvPr/>
        </p:nvSpPr>
        <p:spPr>
          <a:xfrm>
            <a:off x="908623" y="2899271"/>
            <a:ext cx="6742241" cy="222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SemiBold"/>
              <a:buNone/>
            </a:pPr>
            <a:r>
              <a:rPr b="1" lang="en-US" sz="1400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The Tuning Dilemma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2"/>
          <p:cNvSpPr/>
          <p:nvPr/>
        </p:nvSpPr>
        <p:spPr>
          <a:xfrm>
            <a:off x="908623" y="3161010"/>
            <a:ext cx="5523072" cy="3966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100"/>
              <a:buFont typeface="Instrument Sans Medium"/>
              <a:buNone/>
            </a:pPr>
            <a:r>
              <a:rPr lang="en-US" sz="11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Initial aggressive gains caused borderline overshoot on Test T8 ( step), failing the 15% constraint.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6" name="Google Shape;226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734995" y="3374727"/>
            <a:ext cx="784801" cy="17750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27" name="Google Shape;227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8718" y="3892649"/>
            <a:ext cx="6296463" cy="1046163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12"/>
          <p:cNvSpPr/>
          <p:nvPr/>
        </p:nvSpPr>
        <p:spPr>
          <a:xfrm>
            <a:off x="908623" y="4056360"/>
            <a:ext cx="6742241" cy="222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SemiBold"/>
              <a:buNone/>
            </a:pPr>
            <a:r>
              <a:rPr b="1" lang="en-US" sz="1400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Hardware Parameter Adjustment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2"/>
          <p:cNvSpPr/>
          <p:nvPr/>
        </p:nvSpPr>
        <p:spPr>
          <a:xfrm>
            <a:off x="908623" y="4317802"/>
            <a:ext cx="5523072" cy="6331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100"/>
              <a:buFont typeface="Instrument Sans Medium"/>
              <a:buNone/>
            </a:pPr>
            <a:r>
              <a:rPr lang="en-US" sz="11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The proportional feedback resistor was locked at ( Rf=950 k Ohm ,Kp=9.5 ). This perfectly balanced proportional push with the derivative damping channel (</a:t>
            </a:r>
            <a:r>
              <a:rPr i="1" lang="en-US" sz="1100">
                <a:solidFill>
                  <a:srgbClr val="1E3063"/>
                </a:solidFill>
                <a:highlight>
                  <a:srgbClr val="F2F2F2"/>
                </a:highlight>
                <a:latin typeface="Consolas"/>
                <a:ea typeface="Consolas"/>
                <a:cs typeface="Consolas"/>
                <a:sym typeface="Consolas"/>
              </a:rPr>
              <a:t> Kd = 0.04s </a:t>
            </a:r>
            <a:r>
              <a:rPr lang="en-US" sz="11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).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30" name="Google Shape;230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8718" y="5049738"/>
            <a:ext cx="6296463" cy="832941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12"/>
          <p:cNvSpPr/>
          <p:nvPr/>
        </p:nvSpPr>
        <p:spPr>
          <a:xfrm>
            <a:off x="908623" y="5213449"/>
            <a:ext cx="6742241" cy="222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400"/>
              <a:buFont typeface="Instrument Sans SemiBold"/>
              <a:buNone/>
            </a:pPr>
            <a:r>
              <a:rPr b="1" lang="en-US" sz="1400">
                <a:solidFill>
                  <a:srgbClr val="1E3063"/>
                </a:solidFill>
                <a:latin typeface="Instrument Sans SemiBold"/>
                <a:ea typeface="Instrument Sans SemiBold"/>
                <a:cs typeface="Instrument Sans SemiBold"/>
                <a:sym typeface="Instrument Sans SemiBold"/>
              </a:rPr>
              <a:t>Verified Result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2"/>
          <p:cNvSpPr/>
          <p:nvPr/>
        </p:nvSpPr>
        <p:spPr>
          <a:xfrm>
            <a:off x="908623" y="5490567"/>
            <a:ext cx="7569804" cy="1983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1E3063"/>
              </a:buClr>
              <a:buSzPts val="1100"/>
              <a:buFont typeface="Instrument Sans Medium"/>
              <a:buNone/>
            </a:pPr>
            <a:r>
              <a:rPr lang="en-US" sz="1100">
                <a:solidFill>
                  <a:srgbClr val="1E3063"/>
                </a:solidFill>
                <a:latin typeface="Instrument Sans Medium"/>
                <a:ea typeface="Instrument Sans Medium"/>
                <a:cs typeface="Instrument Sans Medium"/>
                <a:sym typeface="Instrument Sans Medium"/>
              </a:rPr>
              <a:t>Test T8 peak speed finally dropped to   31.436 V  , yielding a finalized Mp= 14.66%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33" name="Google Shape;233;p1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086127" y="6448425"/>
            <a:ext cx="2105072" cy="40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3"/>
          <p:cNvSpPr txBox="1"/>
          <p:nvPr/>
        </p:nvSpPr>
        <p:spPr>
          <a:xfrm>
            <a:off x="539369" y="1880772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• Steady-State Error:</a:t>
            </a:r>
            <a:endParaRPr/>
          </a:p>
        </p:txBody>
      </p:sp>
      <p:pic>
        <p:nvPicPr>
          <p:cNvPr descr="eq_ess.png" id="239" name="Google Shape;23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2248" y="2200812"/>
            <a:ext cx="4068583" cy="62484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13"/>
          <p:cNvSpPr txBox="1"/>
          <p:nvPr/>
        </p:nvSpPr>
        <p:spPr>
          <a:xfrm>
            <a:off x="539369" y="2825652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• Maximum Overshoot:</a:t>
            </a:r>
            <a:endParaRPr/>
          </a:p>
        </p:txBody>
      </p:sp>
      <p:pic>
        <p:nvPicPr>
          <p:cNvPr descr="eq_mp.png" id="241" name="Google Shape;241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2249" y="3145692"/>
            <a:ext cx="4299914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13"/>
          <p:cNvSpPr txBox="1"/>
          <p:nvPr/>
        </p:nvSpPr>
        <p:spPr>
          <a:xfrm>
            <a:off x="621538" y="3740052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• Rise Time:</a:t>
            </a:r>
            <a:endParaRPr/>
          </a:p>
        </p:txBody>
      </p:sp>
      <p:pic>
        <p:nvPicPr>
          <p:cNvPr descr="eq_tr.png" id="243" name="Google Shape;243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22249" y="3968652"/>
            <a:ext cx="3717170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13"/>
          <p:cNvSpPr txBox="1"/>
          <p:nvPr/>
        </p:nvSpPr>
        <p:spPr>
          <a:xfrm>
            <a:off x="539369" y="4563012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• Settling Time:</a:t>
            </a:r>
            <a:endParaRPr/>
          </a:p>
        </p:txBody>
      </p:sp>
      <p:pic>
        <p:nvPicPr>
          <p:cNvPr descr="eq_ts.png" id="245" name="Google Shape;245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22249" y="4883052"/>
            <a:ext cx="4162456" cy="59436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T1_Plot_1Slide.png" id="246" name="Google Shape;246;p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983351" y="1418883"/>
            <a:ext cx="5486400" cy="4642338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13"/>
          <p:cNvSpPr/>
          <p:nvPr/>
        </p:nvSpPr>
        <p:spPr>
          <a:xfrm>
            <a:off x="621538" y="1509286"/>
            <a:ext cx="10753754" cy="49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1B1B27"/>
                </a:solidFill>
                <a:latin typeface="Corben"/>
                <a:ea typeface="Corben"/>
                <a:cs typeface="Corben"/>
                <a:sym typeface="Corben"/>
              </a:rPr>
              <a:t>5.1 Simulation &amp; Data Collection (For T1) </a:t>
            </a:r>
            <a:endParaRPr/>
          </a:p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t/>
            </a:r>
            <a:endParaRPr sz="2000">
              <a:solidFill>
                <a:srgbClr val="1B1B27"/>
              </a:solidFill>
              <a:latin typeface="Corben"/>
              <a:ea typeface="Corben"/>
              <a:cs typeface="Corben"/>
              <a:sym typeface="Corben"/>
            </a:endParaRPr>
          </a:p>
        </p:txBody>
      </p:sp>
      <p:sp>
        <p:nvSpPr>
          <p:cNvPr id="248" name="Google Shape;248;p13"/>
          <p:cNvSpPr txBox="1"/>
          <p:nvPr/>
        </p:nvSpPr>
        <p:spPr>
          <a:xfrm>
            <a:off x="621538" y="757466"/>
            <a:ext cx="4631396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orben"/>
                <a:ea typeface="Corben"/>
                <a:cs typeface="Corben"/>
                <a:sym typeface="Corben"/>
              </a:rPr>
              <a:t>5. Analysis and Evaluation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54" name="Google Shape;25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76504" y="65589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55" name="Google Shape;25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76206" y="65588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56" name="Google Shape;256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209949" y="6400800"/>
            <a:ext cx="19811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57" name="Google Shape;257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716348" y="6376392"/>
            <a:ext cx="2474851" cy="481409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14"/>
          <p:cNvSpPr/>
          <p:nvPr/>
        </p:nvSpPr>
        <p:spPr>
          <a:xfrm>
            <a:off x="661475" y="860425"/>
            <a:ext cx="11472972" cy="49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1B1B27"/>
              </a:buClr>
              <a:buSzPts val="2800"/>
              <a:buFont typeface="Corben"/>
              <a:buNone/>
            </a:pPr>
            <a:r>
              <a:rPr lang="en-US" sz="2800">
                <a:solidFill>
                  <a:srgbClr val="1B1B27"/>
                </a:solidFill>
                <a:latin typeface="Corben"/>
                <a:ea typeface="Corben"/>
                <a:cs typeface="Corben"/>
                <a:sym typeface="Corben"/>
              </a:rPr>
              <a:t>5.2 Experimental Performance Verification (Tests T1 – T8)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59" name="Google Shape;259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10573" y="2863294"/>
            <a:ext cx="1035123" cy="24189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1475" y="1657691"/>
            <a:ext cx="10257386" cy="41697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266" name="Google Shape;26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76504" y="65589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67" name="Google Shape;26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76206" y="6558855"/>
            <a:ext cx="1071833" cy="25598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68" name="Google Shape;268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86425" y="6448425"/>
            <a:ext cx="2104972" cy="40957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15"/>
          <p:cNvSpPr/>
          <p:nvPr/>
        </p:nvSpPr>
        <p:spPr>
          <a:xfrm>
            <a:off x="895839" y="1010647"/>
            <a:ext cx="10810902" cy="5476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91C53"/>
              </a:buClr>
              <a:buSzPts val="2800"/>
              <a:buFont typeface="Corben"/>
              <a:buNone/>
            </a:pPr>
            <a:r>
              <a:rPr lang="en-US" sz="2800">
                <a:solidFill>
                  <a:srgbClr val="091C53"/>
                </a:solidFill>
                <a:latin typeface="Corben"/>
                <a:ea typeface="Corben"/>
                <a:cs typeface="Corben"/>
                <a:sym typeface="Corben"/>
              </a:rPr>
              <a:t>5.3 Analysis &amp; Performance Validation</a:t>
            </a:r>
            <a:endParaRPr sz="280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</p:txBody>
      </p:sp>
      <p:pic>
        <p:nvPicPr>
          <p:cNvPr id="270" name="Google Shape;270;p15"/>
          <p:cNvPicPr preferRelativeResize="0"/>
          <p:nvPr/>
        </p:nvPicPr>
        <p:blipFill rotWithShape="1">
          <a:blip r:embed="rId6">
            <a:alphaModFix/>
          </a:blip>
          <a:srcRect b="0" l="0" r="0" t="8646"/>
          <a:stretch/>
        </p:blipFill>
        <p:spPr>
          <a:xfrm>
            <a:off x="328009" y="1832229"/>
            <a:ext cx="10810902" cy="50257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6"/>
          <p:cNvSpPr txBox="1"/>
          <p:nvPr/>
        </p:nvSpPr>
        <p:spPr>
          <a:xfrm>
            <a:off x="457200" y="765908"/>
            <a:ext cx="6849952" cy="800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F2537"/>
                </a:solidFill>
                <a:latin typeface="Corben"/>
                <a:ea typeface="Corben"/>
                <a:cs typeface="Corben"/>
                <a:sym typeface="Corben"/>
              </a:rPr>
              <a:t>5.4 Load Disturbance Rejection Analysis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563EB"/>
                </a:solidFill>
                <a:latin typeface="Corben"/>
                <a:ea typeface="Corben"/>
                <a:cs typeface="Corben"/>
                <a:sym typeface="Corben"/>
              </a:rPr>
              <a:t>Evaluating Controller Robustness (Cases D1 – D4)</a:t>
            </a:r>
            <a:endParaRPr/>
          </a:p>
        </p:txBody>
      </p:sp>
      <p:sp>
        <p:nvSpPr>
          <p:cNvPr id="276" name="Google Shape;276;p16"/>
          <p:cNvSpPr txBox="1"/>
          <p:nvPr/>
        </p:nvSpPr>
        <p:spPr>
          <a:xfrm>
            <a:off x="457200" y="1520092"/>
            <a:ext cx="4114800" cy="30315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⚡ </a:t>
            </a:r>
            <a:r>
              <a:rPr b="1" lang="en-US" sz="1800">
                <a:solidFill>
                  <a:srgbClr val="0F2537"/>
                </a:solidFill>
                <a:latin typeface="Corben"/>
                <a:ea typeface="Corben"/>
                <a:cs typeface="Corben"/>
                <a:sym typeface="Corben"/>
              </a:rPr>
              <a:t>The Disturbance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A sudden mechanical torque step is applied precisely at t = 10s.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🛡️ </a:t>
            </a:r>
            <a:r>
              <a:rPr b="1" lang="en-US" sz="1800">
                <a:solidFill>
                  <a:srgbClr val="0F2537"/>
                </a:solidFill>
                <a:latin typeface="Corben"/>
                <a:ea typeface="Corben"/>
                <a:cs typeface="Corben"/>
                <a:sym typeface="Corben"/>
              </a:rPr>
              <a:t>The Reaction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The controller detects the speed drop and injects counter-armature current.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🎯 </a:t>
            </a:r>
            <a:r>
              <a:rPr b="1" lang="en-US" sz="1800">
                <a:solidFill>
                  <a:srgbClr val="0F2537"/>
                </a:solidFill>
                <a:latin typeface="Corben"/>
                <a:ea typeface="Corben"/>
                <a:cs typeface="Corben"/>
                <a:sym typeface="Corben"/>
              </a:rPr>
              <a:t>Key Insight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4B5563"/>
                </a:solidFill>
                <a:latin typeface="Calibri"/>
                <a:ea typeface="Calibri"/>
                <a:cs typeface="Calibri"/>
                <a:sym typeface="Calibri"/>
              </a:rPr>
              <a:t>Active integral action bounds final error to ≤ 0.03V regardless of load. Speed sag scales linearly.</a:t>
            </a:r>
            <a:endParaRPr/>
          </a:p>
        </p:txBody>
      </p:sp>
      <p:pic>
        <p:nvPicPr>
          <p:cNvPr descr="D4_Recovery_Plot.png" id="277" name="Google Shape;27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54396" y="2001520"/>
            <a:ext cx="7329714" cy="307848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16"/>
          <p:cNvSpPr txBox="1"/>
          <p:nvPr/>
        </p:nvSpPr>
        <p:spPr>
          <a:xfrm>
            <a:off x="457200" y="4987084"/>
            <a:ext cx="1124712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📉 Immediate Sag: Voltage drops precisely at t=10s.</a:t>
            </a:r>
            <a:br>
              <a:rPr b="1" lang="en-US" sz="16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6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🌊 Monotonic Recovery: Critically damped response with zero secondary oscillations.</a:t>
            </a:r>
            <a:br>
              <a:rPr b="1" lang="en-US" sz="16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6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⏱️ Rapid Stabilization: Full recovery in ≤ 0.982s even under severe 40% load step (D4).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7"/>
          <p:cNvSpPr txBox="1"/>
          <p:nvPr/>
        </p:nvSpPr>
        <p:spPr>
          <a:xfrm>
            <a:off x="741680" y="805766"/>
            <a:ext cx="7435049" cy="800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F2537"/>
                </a:solidFill>
                <a:latin typeface="Corben"/>
                <a:ea typeface="Corben"/>
                <a:cs typeface="Corben"/>
                <a:sym typeface="Corben"/>
              </a:rPr>
              <a:t>5.6 Dynamic Recovery Waveforms (D1 – D4)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563EB"/>
                </a:solidFill>
                <a:latin typeface="Corben"/>
                <a:ea typeface="Corben"/>
                <a:cs typeface="Corben"/>
                <a:sym typeface="Corben"/>
              </a:rPr>
              <a:t>Visualizing Speed Sag and Integral Compensation</a:t>
            </a:r>
            <a:endParaRPr/>
          </a:p>
        </p:txBody>
      </p:sp>
      <p:graphicFrame>
        <p:nvGraphicFramePr>
          <p:cNvPr id="284" name="Google Shape;284;p17"/>
          <p:cNvGraphicFramePr/>
          <p:nvPr/>
        </p:nvGraphicFramePr>
        <p:xfrm>
          <a:off x="741680" y="20455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{3E7946FD-088F-43E6-89D7-B616C903F223}</a:tableStyleId>
              </a:tblPr>
              <a:tblGrid>
                <a:gridCol w="866225"/>
                <a:gridCol w="1299350"/>
                <a:gridCol w="2165600"/>
                <a:gridCol w="1949025"/>
                <a:gridCol w="1840750"/>
              </a:tblGrid>
              <a:tr h="9508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</a:rPr>
                        <a:t>Case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</a:rPr>
                        <a:t>Load Step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</a:rPr>
                        <a:t>Max Deviation (V)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</a:rPr>
                        <a:t>Recovery (s)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F253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>
                          <a:solidFill>
                            <a:srgbClr val="FFFFFF"/>
                          </a:solidFill>
                        </a:rPr>
                        <a:t>Final Error (V)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F2537"/>
                    </a:solidFill>
                  </a:tcPr>
                </a:tc>
              </a:tr>
              <a:tr h="67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D1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10%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0.223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0.000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0.028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67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D2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20%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0.456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/>
                        <a:t>0.519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0.026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</a:tr>
              <a:tr h="67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D3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/>
                        <a:t>30%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0.684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0.793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0.028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6791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D4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40%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0.913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>
                          <a:solidFill>
                            <a:srgbClr val="0F2537"/>
                          </a:solidFill>
                        </a:rPr>
                        <a:t>0.982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u="none" cap="none" strike="noStrike"/>
                        <a:t>0.030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8"/>
          <p:cNvSpPr txBox="1"/>
          <p:nvPr/>
        </p:nvSpPr>
        <p:spPr>
          <a:xfrm>
            <a:off x="487680" y="1321973"/>
            <a:ext cx="4017446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0F2537"/>
                </a:solidFill>
                <a:latin typeface="Corben"/>
                <a:ea typeface="Corben"/>
                <a:cs typeface="Corben"/>
                <a:sym typeface="Corben"/>
              </a:rPr>
              <a:t>6.1 Individual Contribution</a:t>
            </a:r>
            <a:endParaRPr/>
          </a:p>
        </p:txBody>
      </p:sp>
      <p:sp>
        <p:nvSpPr>
          <p:cNvPr id="290" name="Google Shape;290;p18"/>
          <p:cNvSpPr/>
          <p:nvPr/>
        </p:nvSpPr>
        <p:spPr>
          <a:xfrm>
            <a:off x="548639" y="2194559"/>
            <a:ext cx="5391053" cy="3595077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9050">
            <a:solidFill>
              <a:srgbClr val="2563E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8"/>
          <p:cNvSpPr/>
          <p:nvPr/>
        </p:nvSpPr>
        <p:spPr>
          <a:xfrm>
            <a:off x="548638" y="2140820"/>
            <a:ext cx="5391054" cy="1097280"/>
          </a:xfrm>
          <a:prstGeom prst="roundRect">
            <a:avLst>
              <a:gd fmla="val 16667" name="adj"/>
            </a:avLst>
          </a:prstGeom>
          <a:solidFill>
            <a:srgbClr val="0F25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8"/>
          <p:cNvSpPr/>
          <p:nvPr/>
        </p:nvSpPr>
        <p:spPr>
          <a:xfrm>
            <a:off x="548640" y="3108960"/>
            <a:ext cx="5391052" cy="182880"/>
          </a:xfrm>
          <a:prstGeom prst="rect">
            <a:avLst/>
          </a:prstGeom>
          <a:solidFill>
            <a:srgbClr val="0F25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8"/>
          <p:cNvSpPr txBox="1"/>
          <p:nvPr/>
        </p:nvSpPr>
        <p:spPr>
          <a:xfrm>
            <a:off x="731520" y="2286000"/>
            <a:ext cx="2262799" cy="6771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Shafat Iqbal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Circuit Design &amp; Tuning Lead</a:t>
            </a:r>
            <a:endParaRPr/>
          </a:p>
        </p:txBody>
      </p:sp>
      <p:sp>
        <p:nvSpPr>
          <p:cNvPr id="294" name="Google Shape;294;p18"/>
          <p:cNvSpPr txBox="1"/>
          <p:nvPr/>
        </p:nvSpPr>
        <p:spPr>
          <a:xfrm>
            <a:off x="822960" y="2994185"/>
            <a:ext cx="47548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■  Executed parametric sweeps and iterative tuning to meet stringent overshoot and recovery specs.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■  Derived core motor equations and configured transient profiles.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■  Analyzed curves for gain limits to narrow parameter bounds.</a:t>
            </a:r>
            <a:endParaRPr/>
          </a:p>
        </p:txBody>
      </p:sp>
      <p:sp>
        <p:nvSpPr>
          <p:cNvPr id="295" name="Google Shape;295;p18"/>
          <p:cNvSpPr txBox="1"/>
          <p:nvPr/>
        </p:nvSpPr>
        <p:spPr>
          <a:xfrm>
            <a:off x="822960" y="4948477"/>
            <a:ext cx="4754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4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Evidence: Tuned controller values (Rf = 950 kΩ), Fig. 10 sweep plots, verified waveforms.</a:t>
            </a:r>
            <a:endParaRPr/>
          </a:p>
        </p:txBody>
      </p:sp>
      <p:sp>
        <p:nvSpPr>
          <p:cNvPr id="296" name="Google Shape;296;p18"/>
          <p:cNvSpPr/>
          <p:nvPr/>
        </p:nvSpPr>
        <p:spPr>
          <a:xfrm>
            <a:off x="6309360" y="2194560"/>
            <a:ext cx="5303520" cy="3595077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9050">
            <a:solidFill>
              <a:srgbClr val="2563E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8"/>
          <p:cNvSpPr/>
          <p:nvPr/>
        </p:nvSpPr>
        <p:spPr>
          <a:xfrm>
            <a:off x="6309360" y="2194560"/>
            <a:ext cx="5303520" cy="1097280"/>
          </a:xfrm>
          <a:prstGeom prst="roundRect">
            <a:avLst>
              <a:gd fmla="val 16667" name="adj"/>
            </a:avLst>
          </a:prstGeom>
          <a:solidFill>
            <a:srgbClr val="0F25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8"/>
          <p:cNvSpPr/>
          <p:nvPr/>
        </p:nvSpPr>
        <p:spPr>
          <a:xfrm>
            <a:off x="6309360" y="3108960"/>
            <a:ext cx="5303520" cy="182880"/>
          </a:xfrm>
          <a:prstGeom prst="rect">
            <a:avLst/>
          </a:prstGeom>
          <a:solidFill>
            <a:srgbClr val="0F25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8"/>
          <p:cNvSpPr txBox="1"/>
          <p:nvPr/>
        </p:nvSpPr>
        <p:spPr>
          <a:xfrm>
            <a:off x="6492240" y="2286000"/>
            <a:ext cx="3300199" cy="6771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Maruf Raihan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Simulation , Tuning &amp; Documentation Lead</a:t>
            </a:r>
            <a:endParaRPr/>
          </a:p>
        </p:txBody>
      </p:sp>
      <p:sp>
        <p:nvSpPr>
          <p:cNvPr id="300" name="Google Shape;300;p18"/>
          <p:cNvSpPr txBox="1"/>
          <p:nvPr/>
        </p:nvSpPr>
        <p:spPr>
          <a:xfrm>
            <a:off x="6583680" y="3108960"/>
            <a:ext cx="475488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■  Conceptualized OrCAD/PSpice circuit design and managed sub-circuit integration.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■  Extracted transient response and disturbance metrics (IPULSE steps 10%-40%).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■  Authored the final report ensuring BUET and IEEE compliance.</a:t>
            </a:r>
            <a:endParaRPr/>
          </a:p>
        </p:txBody>
      </p:sp>
      <p:sp>
        <p:nvSpPr>
          <p:cNvPr id="301" name="Google Shape;301;p18"/>
          <p:cNvSpPr txBox="1"/>
          <p:nvPr/>
        </p:nvSpPr>
        <p:spPr>
          <a:xfrm>
            <a:off x="6583680" y="5120640"/>
            <a:ext cx="4754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US" sz="14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Evidence: OrCAD schematic drafts, Tables 1–3 raw data, compiled final document.</a:t>
            </a:r>
            <a:endParaRPr/>
          </a:p>
        </p:txBody>
      </p:sp>
      <p:sp>
        <p:nvSpPr>
          <p:cNvPr id="302" name="Google Shape;302;p18"/>
          <p:cNvSpPr txBox="1"/>
          <p:nvPr/>
        </p:nvSpPr>
        <p:spPr>
          <a:xfrm>
            <a:off x="487680" y="664031"/>
            <a:ext cx="8711028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dk1"/>
                </a:solidFill>
                <a:latin typeface="Corben"/>
                <a:ea typeface="Corben"/>
                <a:cs typeface="Corben"/>
                <a:sym typeface="Corben"/>
              </a:rPr>
              <a:t>6. Reflection on Individual and Team work </a:t>
            </a:r>
            <a:endParaRPr sz="280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9"/>
          <p:cNvSpPr txBox="1"/>
          <p:nvPr/>
        </p:nvSpPr>
        <p:spPr>
          <a:xfrm>
            <a:off x="548640" y="758504"/>
            <a:ext cx="3631187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6.2 Mode of Teamwork</a:t>
            </a:r>
            <a:endParaRPr/>
          </a:p>
        </p:txBody>
      </p:sp>
      <p:sp>
        <p:nvSpPr>
          <p:cNvPr id="308" name="Google Shape;308;p19"/>
          <p:cNvSpPr/>
          <p:nvPr/>
        </p:nvSpPr>
        <p:spPr>
          <a:xfrm>
            <a:off x="731520" y="2743200"/>
            <a:ext cx="3200400" cy="20116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25400">
            <a:solidFill>
              <a:srgbClr val="2563E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9"/>
          <p:cNvSpPr txBox="1"/>
          <p:nvPr/>
        </p:nvSpPr>
        <p:spPr>
          <a:xfrm>
            <a:off x="731520" y="292608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1. Independent Review</a:t>
            </a:r>
            <a:endParaRPr/>
          </a:p>
        </p:txBody>
      </p:sp>
      <p:sp>
        <p:nvSpPr>
          <p:cNvPr id="310" name="Google Shape;310;p19"/>
          <p:cNvSpPr txBox="1"/>
          <p:nvPr/>
        </p:nvSpPr>
        <p:spPr>
          <a:xfrm>
            <a:off x="914400" y="3474720"/>
            <a:ext cx="28346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Plant equations and circuit blocks were reviewed individually prior to integration.</a:t>
            </a:r>
            <a:endParaRPr/>
          </a:p>
        </p:txBody>
      </p:sp>
      <p:sp>
        <p:nvSpPr>
          <p:cNvPr id="311" name="Google Shape;311;p19"/>
          <p:cNvSpPr/>
          <p:nvPr/>
        </p:nvSpPr>
        <p:spPr>
          <a:xfrm>
            <a:off x="4023360" y="3657600"/>
            <a:ext cx="274320" cy="18288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9"/>
          <p:cNvSpPr/>
          <p:nvPr/>
        </p:nvSpPr>
        <p:spPr>
          <a:xfrm>
            <a:off x="4389120" y="2743200"/>
            <a:ext cx="3200400" cy="20116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25400">
            <a:solidFill>
              <a:srgbClr val="2563E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9"/>
          <p:cNvSpPr txBox="1"/>
          <p:nvPr/>
        </p:nvSpPr>
        <p:spPr>
          <a:xfrm>
            <a:off x="4389120" y="292608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2. Data-Driven Tuning</a:t>
            </a:r>
            <a:endParaRPr/>
          </a:p>
        </p:txBody>
      </p:sp>
      <p:sp>
        <p:nvSpPr>
          <p:cNvPr id="314" name="Google Shape;314;p19"/>
          <p:cNvSpPr txBox="1"/>
          <p:nvPr/>
        </p:nvSpPr>
        <p:spPr>
          <a:xfrm>
            <a:off x="4572000" y="3474720"/>
            <a:ext cx="28346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Simulation outputs were collaboratively used to identify necessary parameter tuning changes.</a:t>
            </a:r>
            <a:endParaRPr/>
          </a:p>
        </p:txBody>
      </p:sp>
      <p:sp>
        <p:nvSpPr>
          <p:cNvPr id="315" name="Google Shape;315;p19"/>
          <p:cNvSpPr/>
          <p:nvPr/>
        </p:nvSpPr>
        <p:spPr>
          <a:xfrm>
            <a:off x="7680960" y="3657600"/>
            <a:ext cx="274320" cy="18288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9"/>
          <p:cNvSpPr/>
          <p:nvPr/>
        </p:nvSpPr>
        <p:spPr>
          <a:xfrm>
            <a:off x="8046720" y="2743200"/>
            <a:ext cx="3200400" cy="20116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25400">
            <a:solidFill>
              <a:srgbClr val="2563E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9"/>
          <p:cNvSpPr txBox="1"/>
          <p:nvPr/>
        </p:nvSpPr>
        <p:spPr>
          <a:xfrm>
            <a:off x="8046720" y="292608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3. Joint Validation</a:t>
            </a:r>
            <a:endParaRPr/>
          </a:p>
        </p:txBody>
      </p:sp>
      <p:sp>
        <p:nvSpPr>
          <p:cNvPr id="318" name="Google Shape;318;p19"/>
          <p:cNvSpPr txBox="1"/>
          <p:nvPr/>
        </p:nvSpPr>
        <p:spPr>
          <a:xfrm>
            <a:off x="8229600" y="3474720"/>
            <a:ext cx="28346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Shared project files utilized to compare circuit modifications before adopting final values.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0"/>
          <p:cNvSpPr txBox="1"/>
          <p:nvPr/>
        </p:nvSpPr>
        <p:spPr>
          <a:xfrm>
            <a:off x="668997" y="679187"/>
            <a:ext cx="4943597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6.3 Diversity Statement of Team</a:t>
            </a:r>
            <a:endParaRPr/>
          </a:p>
        </p:txBody>
      </p:sp>
      <p:sp>
        <p:nvSpPr>
          <p:cNvPr id="324" name="Google Shape;324;p20"/>
          <p:cNvSpPr txBox="1"/>
          <p:nvPr/>
        </p:nvSpPr>
        <p:spPr>
          <a:xfrm>
            <a:off x="853440" y="2541563"/>
            <a:ext cx="45720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Multidisciplinary Integration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These varied task requirements allowed the team to leverage complementary skill sets while effectively reviewing one another's circuit modifications and simulation results.</a:t>
            </a:r>
            <a:endParaRPr/>
          </a:p>
        </p:txBody>
      </p:sp>
      <p:sp>
        <p:nvSpPr>
          <p:cNvPr id="325" name="Google Shape;325;p20"/>
          <p:cNvSpPr/>
          <p:nvPr/>
        </p:nvSpPr>
        <p:spPr>
          <a:xfrm>
            <a:off x="5943600" y="2011680"/>
            <a:ext cx="5029200" cy="548640"/>
          </a:xfrm>
          <a:prstGeom prst="roundRect">
            <a:avLst>
              <a:gd fmla="val 16667" name="adj"/>
            </a:avLst>
          </a:prstGeom>
          <a:solidFill>
            <a:srgbClr val="0F25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Control-Theory Analysis</a:t>
            </a:r>
            <a:endParaRPr/>
          </a:p>
        </p:txBody>
      </p:sp>
      <p:sp>
        <p:nvSpPr>
          <p:cNvPr id="327" name="Google Shape;327;p20"/>
          <p:cNvSpPr/>
          <p:nvPr/>
        </p:nvSpPr>
        <p:spPr>
          <a:xfrm>
            <a:off x="6309360" y="2834640"/>
            <a:ext cx="5029200" cy="548640"/>
          </a:xfrm>
          <a:prstGeom prst="roundRect">
            <a:avLst>
              <a:gd fmla="val 1666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0"/>
          <p:cNvSpPr txBox="1"/>
          <p:nvPr/>
        </p:nvSpPr>
        <p:spPr>
          <a:xfrm>
            <a:off x="6309360" y="283464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Analog-Circuit Design</a:t>
            </a:r>
            <a:endParaRPr/>
          </a:p>
        </p:txBody>
      </p:sp>
      <p:sp>
        <p:nvSpPr>
          <p:cNvPr id="329" name="Google Shape;329;p20"/>
          <p:cNvSpPr/>
          <p:nvPr/>
        </p:nvSpPr>
        <p:spPr>
          <a:xfrm>
            <a:off x="5943600" y="3657600"/>
            <a:ext cx="5029200" cy="548640"/>
          </a:xfrm>
          <a:prstGeom prst="roundRect">
            <a:avLst>
              <a:gd fmla="val 16667" name="adj"/>
            </a:avLst>
          </a:prstGeom>
          <a:solidFill>
            <a:srgbClr val="0F25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0"/>
          <p:cNvSpPr txBox="1"/>
          <p:nvPr/>
        </p:nvSpPr>
        <p:spPr>
          <a:xfrm>
            <a:off x="5943600" y="36576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PSpice Schematic Entry</a:t>
            </a:r>
            <a:endParaRPr/>
          </a:p>
        </p:txBody>
      </p:sp>
      <p:sp>
        <p:nvSpPr>
          <p:cNvPr id="331" name="Google Shape;331;p20"/>
          <p:cNvSpPr/>
          <p:nvPr/>
        </p:nvSpPr>
        <p:spPr>
          <a:xfrm>
            <a:off x="6309360" y="4480560"/>
            <a:ext cx="5029200" cy="548640"/>
          </a:xfrm>
          <a:prstGeom prst="roundRect">
            <a:avLst>
              <a:gd fmla="val 16667" name="adj"/>
            </a:avLst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0"/>
          <p:cNvSpPr txBox="1"/>
          <p:nvPr/>
        </p:nvSpPr>
        <p:spPr>
          <a:xfrm>
            <a:off x="6309360" y="44805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Transient Measurement</a:t>
            </a:r>
            <a:endParaRPr/>
          </a:p>
        </p:txBody>
      </p:sp>
      <p:sp>
        <p:nvSpPr>
          <p:cNvPr id="333" name="Google Shape;333;p20"/>
          <p:cNvSpPr/>
          <p:nvPr/>
        </p:nvSpPr>
        <p:spPr>
          <a:xfrm>
            <a:off x="5943600" y="5303520"/>
            <a:ext cx="5029200" cy="548640"/>
          </a:xfrm>
          <a:prstGeom prst="roundRect">
            <a:avLst>
              <a:gd fmla="val 16667" name="adj"/>
            </a:avLst>
          </a:prstGeom>
          <a:solidFill>
            <a:srgbClr val="0F253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0"/>
          <p:cNvSpPr txBox="1"/>
          <p:nvPr/>
        </p:nvSpPr>
        <p:spPr>
          <a:xfrm>
            <a:off x="5943600" y="530352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Technical Documentation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1"/>
          <p:cNvSpPr txBox="1"/>
          <p:nvPr/>
        </p:nvSpPr>
        <p:spPr>
          <a:xfrm>
            <a:off x="653000" y="539495"/>
            <a:ext cx="6096413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6.4 Log Book of Project Implementation</a:t>
            </a:r>
            <a:endParaRPr/>
          </a:p>
        </p:txBody>
      </p:sp>
      <p:sp>
        <p:nvSpPr>
          <p:cNvPr id="340" name="Google Shape;340;p21"/>
          <p:cNvSpPr txBox="1"/>
          <p:nvPr/>
        </p:nvSpPr>
        <p:spPr>
          <a:xfrm>
            <a:off x="653000" y="1123949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Critical Milestones and Analysis Progression</a:t>
            </a:r>
            <a:endParaRPr/>
          </a:p>
        </p:txBody>
      </p:sp>
      <p:sp>
        <p:nvSpPr>
          <p:cNvPr id="341" name="Google Shape;341;p21"/>
          <p:cNvSpPr/>
          <p:nvPr/>
        </p:nvSpPr>
        <p:spPr>
          <a:xfrm>
            <a:off x="868679" y="3886200"/>
            <a:ext cx="10698480" cy="7315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1"/>
          <p:cNvSpPr/>
          <p:nvPr/>
        </p:nvSpPr>
        <p:spPr>
          <a:xfrm>
            <a:off x="1400174" y="3785615"/>
            <a:ext cx="274320" cy="274320"/>
          </a:xfrm>
          <a:prstGeom prst="ellipse">
            <a:avLst/>
          </a:prstGeom>
          <a:solidFill>
            <a:srgbClr val="FFFFFF"/>
          </a:solidFill>
          <a:ln cap="flat" cmpd="sng" w="38100">
            <a:solidFill>
              <a:srgbClr val="2563E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1"/>
          <p:cNvSpPr/>
          <p:nvPr/>
        </p:nvSpPr>
        <p:spPr>
          <a:xfrm>
            <a:off x="1519046" y="3246120"/>
            <a:ext cx="36576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1"/>
          <p:cNvSpPr txBox="1"/>
          <p:nvPr/>
        </p:nvSpPr>
        <p:spPr>
          <a:xfrm>
            <a:off x="897254" y="2514600"/>
            <a:ext cx="12801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Aug 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Math Modeling</a:t>
            </a:r>
            <a:endParaRPr/>
          </a:p>
        </p:txBody>
      </p:sp>
      <p:sp>
        <p:nvSpPr>
          <p:cNvPr id="345" name="Google Shape;345;p21"/>
          <p:cNvSpPr/>
          <p:nvPr/>
        </p:nvSpPr>
        <p:spPr>
          <a:xfrm>
            <a:off x="2737484" y="3785615"/>
            <a:ext cx="274320" cy="274320"/>
          </a:xfrm>
          <a:prstGeom prst="ellipse">
            <a:avLst/>
          </a:prstGeom>
          <a:solidFill>
            <a:srgbClr val="FFFFFF"/>
          </a:solidFill>
          <a:ln cap="flat" cmpd="sng" w="38100">
            <a:solidFill>
              <a:srgbClr val="2563E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1"/>
          <p:cNvSpPr/>
          <p:nvPr/>
        </p:nvSpPr>
        <p:spPr>
          <a:xfrm>
            <a:off x="2856356" y="3977640"/>
            <a:ext cx="36576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 txBox="1"/>
          <p:nvPr/>
        </p:nvSpPr>
        <p:spPr>
          <a:xfrm>
            <a:off x="2234564" y="4709160"/>
            <a:ext cx="12801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Aug 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Plant Circuit</a:t>
            </a:r>
            <a:endParaRPr/>
          </a:p>
        </p:txBody>
      </p:sp>
      <p:sp>
        <p:nvSpPr>
          <p:cNvPr id="348" name="Google Shape;348;p21"/>
          <p:cNvSpPr/>
          <p:nvPr/>
        </p:nvSpPr>
        <p:spPr>
          <a:xfrm>
            <a:off x="4074793" y="3785615"/>
            <a:ext cx="274320" cy="274320"/>
          </a:xfrm>
          <a:prstGeom prst="ellipse">
            <a:avLst/>
          </a:prstGeom>
          <a:solidFill>
            <a:srgbClr val="FFFFFF"/>
          </a:solidFill>
          <a:ln cap="flat" cmpd="sng" w="38100">
            <a:solidFill>
              <a:srgbClr val="2563E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/>
          <p:nvPr/>
        </p:nvSpPr>
        <p:spPr>
          <a:xfrm>
            <a:off x="4193666" y="3246120"/>
            <a:ext cx="36576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 txBox="1"/>
          <p:nvPr/>
        </p:nvSpPr>
        <p:spPr>
          <a:xfrm>
            <a:off x="3571873" y="2514600"/>
            <a:ext cx="12801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Sep 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PID Op-Amp</a:t>
            </a:r>
            <a:endParaRPr/>
          </a:p>
        </p:txBody>
      </p:sp>
      <p:sp>
        <p:nvSpPr>
          <p:cNvPr id="351" name="Google Shape;351;p21"/>
          <p:cNvSpPr/>
          <p:nvPr/>
        </p:nvSpPr>
        <p:spPr>
          <a:xfrm>
            <a:off x="5412103" y="3785615"/>
            <a:ext cx="274320" cy="274320"/>
          </a:xfrm>
          <a:prstGeom prst="ellipse">
            <a:avLst/>
          </a:prstGeom>
          <a:solidFill>
            <a:srgbClr val="FFFFFF"/>
          </a:solidFill>
          <a:ln cap="flat" cmpd="sng" w="38100">
            <a:solidFill>
              <a:srgbClr val="2563E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/>
          <p:nvPr/>
        </p:nvSpPr>
        <p:spPr>
          <a:xfrm>
            <a:off x="5530976" y="3977640"/>
            <a:ext cx="36576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 txBox="1"/>
          <p:nvPr/>
        </p:nvSpPr>
        <p:spPr>
          <a:xfrm>
            <a:off x="4909183" y="4709160"/>
            <a:ext cx="12801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Sep 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Closed-Loop</a:t>
            </a:r>
            <a:endParaRPr/>
          </a:p>
        </p:txBody>
      </p:sp>
      <p:sp>
        <p:nvSpPr>
          <p:cNvPr id="354" name="Google Shape;354;p21"/>
          <p:cNvSpPr/>
          <p:nvPr/>
        </p:nvSpPr>
        <p:spPr>
          <a:xfrm>
            <a:off x="6749413" y="3785615"/>
            <a:ext cx="274320" cy="274320"/>
          </a:xfrm>
          <a:prstGeom prst="ellipse">
            <a:avLst/>
          </a:prstGeom>
          <a:solidFill>
            <a:srgbClr val="FFFFFF"/>
          </a:solidFill>
          <a:ln cap="flat" cmpd="sng" w="38100">
            <a:solidFill>
              <a:srgbClr val="2563E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1"/>
          <p:cNvSpPr/>
          <p:nvPr/>
        </p:nvSpPr>
        <p:spPr>
          <a:xfrm>
            <a:off x="6868286" y="3246120"/>
            <a:ext cx="36576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1"/>
          <p:cNvSpPr txBox="1"/>
          <p:nvPr/>
        </p:nvSpPr>
        <p:spPr>
          <a:xfrm>
            <a:off x="6246493" y="2514600"/>
            <a:ext cx="12801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Sep 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Param Sweeps</a:t>
            </a:r>
            <a:endParaRPr/>
          </a:p>
        </p:txBody>
      </p:sp>
      <p:sp>
        <p:nvSpPr>
          <p:cNvPr id="357" name="Google Shape;357;p21"/>
          <p:cNvSpPr/>
          <p:nvPr/>
        </p:nvSpPr>
        <p:spPr>
          <a:xfrm>
            <a:off x="8086724" y="3785615"/>
            <a:ext cx="274320" cy="274320"/>
          </a:xfrm>
          <a:prstGeom prst="ellipse">
            <a:avLst/>
          </a:prstGeom>
          <a:solidFill>
            <a:srgbClr val="FFFFFF"/>
          </a:solidFill>
          <a:ln cap="flat" cmpd="sng" w="38100">
            <a:solidFill>
              <a:srgbClr val="2563E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1"/>
          <p:cNvSpPr/>
          <p:nvPr/>
        </p:nvSpPr>
        <p:spPr>
          <a:xfrm>
            <a:off x="8205596" y="3977640"/>
            <a:ext cx="36576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1"/>
          <p:cNvSpPr txBox="1"/>
          <p:nvPr/>
        </p:nvSpPr>
        <p:spPr>
          <a:xfrm>
            <a:off x="7583804" y="4709160"/>
            <a:ext cx="12801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Sep 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Fine-Tuning</a:t>
            </a:r>
            <a:endParaRPr/>
          </a:p>
        </p:txBody>
      </p:sp>
      <p:sp>
        <p:nvSpPr>
          <p:cNvPr id="360" name="Google Shape;360;p21"/>
          <p:cNvSpPr/>
          <p:nvPr/>
        </p:nvSpPr>
        <p:spPr>
          <a:xfrm>
            <a:off x="9424033" y="3785615"/>
            <a:ext cx="274320" cy="274320"/>
          </a:xfrm>
          <a:prstGeom prst="ellipse">
            <a:avLst/>
          </a:prstGeom>
          <a:solidFill>
            <a:srgbClr val="FFFFFF"/>
          </a:solidFill>
          <a:ln cap="flat" cmpd="sng" w="38100">
            <a:solidFill>
              <a:srgbClr val="2563E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1"/>
          <p:cNvSpPr/>
          <p:nvPr/>
        </p:nvSpPr>
        <p:spPr>
          <a:xfrm>
            <a:off x="9542906" y="3246120"/>
            <a:ext cx="36576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1"/>
          <p:cNvSpPr txBox="1"/>
          <p:nvPr/>
        </p:nvSpPr>
        <p:spPr>
          <a:xfrm>
            <a:off x="8921114" y="2514600"/>
            <a:ext cx="12801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Sep 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Disturbance</a:t>
            </a:r>
            <a:endParaRPr/>
          </a:p>
        </p:txBody>
      </p:sp>
      <p:sp>
        <p:nvSpPr>
          <p:cNvPr id="363" name="Google Shape;363;p21"/>
          <p:cNvSpPr/>
          <p:nvPr/>
        </p:nvSpPr>
        <p:spPr>
          <a:xfrm>
            <a:off x="10761343" y="3785615"/>
            <a:ext cx="274320" cy="274320"/>
          </a:xfrm>
          <a:prstGeom prst="ellipse">
            <a:avLst/>
          </a:prstGeom>
          <a:solidFill>
            <a:srgbClr val="FFFFFF"/>
          </a:solidFill>
          <a:ln cap="flat" cmpd="sng" w="38100">
            <a:solidFill>
              <a:srgbClr val="2563EB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1"/>
          <p:cNvSpPr/>
          <p:nvPr/>
        </p:nvSpPr>
        <p:spPr>
          <a:xfrm>
            <a:off x="10880216" y="3977640"/>
            <a:ext cx="36576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1"/>
          <p:cNvSpPr txBox="1"/>
          <p:nvPr/>
        </p:nvSpPr>
        <p:spPr>
          <a:xfrm>
            <a:off x="10258424" y="4709160"/>
            <a:ext cx="12801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Sep 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F2537"/>
                </a:solidFill>
                <a:latin typeface="Calibri"/>
                <a:ea typeface="Calibri"/>
                <a:cs typeface="Calibri"/>
                <a:sym typeface="Calibri"/>
              </a:rPr>
              <a:t>Report Done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22"/>
          <p:cNvSpPr/>
          <p:nvPr/>
        </p:nvSpPr>
        <p:spPr>
          <a:xfrm>
            <a:off x="0" y="0"/>
            <a:ext cx="6095390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2"/>
          <p:cNvSpPr/>
          <p:nvPr/>
        </p:nvSpPr>
        <p:spPr>
          <a:xfrm>
            <a:off x="6095390" y="0"/>
            <a:ext cx="609539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2"/>
          <p:cNvSpPr txBox="1"/>
          <p:nvPr/>
        </p:nvSpPr>
        <p:spPr>
          <a:xfrm>
            <a:off x="731520" y="1114474"/>
            <a:ext cx="4572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64FFDA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  <a:endParaRPr/>
          </a:p>
        </p:txBody>
      </p:sp>
      <p:sp>
        <p:nvSpPr>
          <p:cNvPr id="373" name="Google Shape;373;p22"/>
          <p:cNvSpPr txBox="1"/>
          <p:nvPr/>
        </p:nvSpPr>
        <p:spPr>
          <a:xfrm>
            <a:off x="6766560" y="1119163"/>
            <a:ext cx="4572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Future Work</a:t>
            </a:r>
            <a:endParaRPr/>
          </a:p>
        </p:txBody>
      </p:sp>
      <p:sp>
        <p:nvSpPr>
          <p:cNvPr id="374" name="Google Shape;374;p22"/>
          <p:cNvSpPr txBox="1"/>
          <p:nvPr/>
        </p:nvSpPr>
        <p:spPr>
          <a:xfrm>
            <a:off x="731520" y="1828800"/>
            <a:ext cx="475488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■  PSpice idealizations omit real motor non-linearities.</a:t>
            </a:r>
            <a:endParaRPr/>
          </a:p>
          <a:p>
            <a:pPr indent="0" lvl="0" marL="0" marR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■  Hardware op-amp slew rates and bandwidth alter response.</a:t>
            </a:r>
            <a:endParaRPr/>
          </a:p>
          <a:p>
            <a:pPr indent="0" lvl="0" marL="0" marR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■  Transistor thermal behavior (SOA) requires physical testing.</a:t>
            </a:r>
            <a:endParaRPr/>
          </a:p>
          <a:p>
            <a:pPr indent="0" lvl="0" marL="0" marR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■  Component tolerances will inevitably shift actual Kp, Ki, Kd.</a:t>
            </a:r>
            <a:endParaRPr/>
          </a:p>
        </p:txBody>
      </p:sp>
      <p:sp>
        <p:nvSpPr>
          <p:cNvPr id="375" name="Google Shape;375;p22"/>
          <p:cNvSpPr txBox="1"/>
          <p:nvPr/>
        </p:nvSpPr>
        <p:spPr>
          <a:xfrm>
            <a:off x="6766560" y="1828800"/>
            <a:ext cx="475488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■  Fabricate a physical PCB with a real DC motor and optical encoder.</a:t>
            </a:r>
            <a:endParaRPr/>
          </a:p>
          <a:p>
            <a:pPr indent="0" lvl="0" marL="0" marR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■  Integrate realistic load-torque modeling and sensor noise.</a:t>
            </a:r>
            <a:endParaRPr/>
          </a:p>
          <a:p>
            <a:pPr indent="0" lvl="0" marL="0" marR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■  Execute rigorous tolerance, temperature, and supply-voltage variation tests.</a:t>
            </a:r>
            <a:endParaRPr/>
          </a:p>
          <a:p>
            <a:pPr indent="0" lvl="0" marL="0" marR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■  Implement analog anti-windup clamping for the integral stage.</a:t>
            </a:r>
            <a:endParaRPr/>
          </a:p>
        </p:txBody>
      </p:sp>
      <p:sp>
        <p:nvSpPr>
          <p:cNvPr id="376" name="Google Shape;376;p22"/>
          <p:cNvSpPr txBox="1"/>
          <p:nvPr/>
        </p:nvSpPr>
        <p:spPr>
          <a:xfrm>
            <a:off x="790306" y="495701"/>
            <a:ext cx="5719909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chemeClr val="lt1"/>
                </a:solidFill>
                <a:latin typeface="Corben"/>
                <a:ea typeface="Corben"/>
                <a:cs typeface="Corben"/>
                <a:sym typeface="Corben"/>
              </a:rPr>
              <a:t>7. Limitations and Future work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23"/>
          <p:cNvSpPr txBox="1"/>
          <p:nvPr/>
        </p:nvSpPr>
        <p:spPr>
          <a:xfrm>
            <a:off x="683846" y="457200"/>
            <a:ext cx="6973384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0A192F"/>
                </a:solidFill>
                <a:latin typeface="Corben"/>
                <a:ea typeface="Corben"/>
                <a:cs typeface="Corben"/>
                <a:sym typeface="Corben"/>
              </a:rPr>
              <a:t>8. References &amp; Documentation</a:t>
            </a:r>
            <a:endParaRPr/>
          </a:p>
        </p:txBody>
      </p:sp>
      <p:sp>
        <p:nvSpPr>
          <p:cNvPr id="382" name="Google Shape;382;p23"/>
          <p:cNvSpPr/>
          <p:nvPr/>
        </p:nvSpPr>
        <p:spPr>
          <a:xfrm>
            <a:off x="731520" y="1828800"/>
            <a:ext cx="548640" cy="548640"/>
          </a:xfrm>
          <a:prstGeom prst="roundRect">
            <a:avLst>
              <a:gd fmla="val 16667" name="adj"/>
            </a:avLst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383" name="Google Shape;383;p23"/>
          <p:cNvSpPr txBox="1"/>
          <p:nvPr/>
        </p:nvSpPr>
        <p:spPr>
          <a:xfrm>
            <a:off x="1463040" y="1828800"/>
            <a:ext cx="9601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N. S. Nise, Control Systems Engineering. Hoboken, NJ: John Wiley &amp; Sons.</a:t>
            </a:r>
            <a:endParaRPr/>
          </a:p>
        </p:txBody>
      </p:sp>
      <p:sp>
        <p:nvSpPr>
          <p:cNvPr id="384" name="Google Shape;384;p23"/>
          <p:cNvSpPr/>
          <p:nvPr/>
        </p:nvSpPr>
        <p:spPr>
          <a:xfrm>
            <a:off x="731520" y="2926080"/>
            <a:ext cx="548640" cy="548640"/>
          </a:xfrm>
          <a:prstGeom prst="roundRect">
            <a:avLst>
              <a:gd fmla="val 16667" name="adj"/>
            </a:avLst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385" name="Google Shape;385;p23"/>
          <p:cNvSpPr txBox="1"/>
          <p:nvPr/>
        </p:nvSpPr>
        <p:spPr>
          <a:xfrm>
            <a:off x="1463040" y="2926080"/>
            <a:ext cx="9601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Cadence Design Systems, OrCAD/PSpice 9.2 Documentation and Simulation Reference Material.</a:t>
            </a:r>
            <a:endParaRPr/>
          </a:p>
        </p:txBody>
      </p:sp>
      <p:sp>
        <p:nvSpPr>
          <p:cNvPr id="386" name="Google Shape;386;p23"/>
          <p:cNvSpPr/>
          <p:nvPr/>
        </p:nvSpPr>
        <p:spPr>
          <a:xfrm>
            <a:off x="731520" y="4023360"/>
            <a:ext cx="548640" cy="548640"/>
          </a:xfrm>
          <a:prstGeom prst="roundRect">
            <a:avLst>
              <a:gd fmla="val 16667" name="adj"/>
            </a:avLst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387" name="Google Shape;387;p23"/>
          <p:cNvSpPr txBox="1"/>
          <p:nvPr/>
        </p:nvSpPr>
        <p:spPr>
          <a:xfrm>
            <a:off x="1463040" y="4023360"/>
            <a:ext cx="9601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Datasheet and Model Documentation for BD203, BD204, BD135/PLP, and BD136/PLP Devices.</a:t>
            </a:r>
            <a:endParaRPr/>
          </a:p>
        </p:txBody>
      </p:sp>
      <p:sp>
        <p:nvSpPr>
          <p:cNvPr id="388" name="Google Shape;388;p23"/>
          <p:cNvSpPr/>
          <p:nvPr/>
        </p:nvSpPr>
        <p:spPr>
          <a:xfrm>
            <a:off x="731520" y="5120640"/>
            <a:ext cx="548640" cy="548640"/>
          </a:xfrm>
          <a:prstGeom prst="roundRect">
            <a:avLst>
              <a:gd fmla="val 16667" name="adj"/>
            </a:avLst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389" name="Google Shape;389;p23"/>
          <p:cNvSpPr txBox="1"/>
          <p:nvPr/>
        </p:nvSpPr>
        <p:spPr>
          <a:xfrm>
            <a:off x="1463040" y="5120640"/>
            <a:ext cx="9601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Operational Amplifier Datasheet and PSpice Model Documentation.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24"/>
          <p:cNvSpPr txBox="1"/>
          <p:nvPr/>
        </p:nvSpPr>
        <p:spPr>
          <a:xfrm>
            <a:off x="640080" y="457200"/>
            <a:ext cx="5835252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0A192F"/>
                </a:solidFill>
                <a:latin typeface="Corben"/>
                <a:ea typeface="Corben"/>
                <a:cs typeface="Corben"/>
                <a:sym typeface="Corben"/>
              </a:rPr>
              <a:t>Course Outcome Mapping</a:t>
            </a:r>
            <a:endParaRPr/>
          </a:p>
        </p:txBody>
      </p:sp>
      <p:sp>
        <p:nvSpPr>
          <p:cNvPr id="395" name="Google Shape;395;p24"/>
          <p:cNvSpPr/>
          <p:nvPr/>
        </p:nvSpPr>
        <p:spPr>
          <a:xfrm>
            <a:off x="731520" y="1737360"/>
            <a:ext cx="10698480" cy="8686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CCD6F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24"/>
          <p:cNvSpPr/>
          <p:nvPr/>
        </p:nvSpPr>
        <p:spPr>
          <a:xfrm>
            <a:off x="731520" y="1737360"/>
            <a:ext cx="137160" cy="868680"/>
          </a:xfrm>
          <a:prstGeom prst="roundRect">
            <a:avLst>
              <a:gd fmla="val 16667" name="adj"/>
            </a:avLst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4"/>
          <p:cNvSpPr txBox="1"/>
          <p:nvPr/>
        </p:nvSpPr>
        <p:spPr>
          <a:xfrm>
            <a:off x="914400" y="187452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CO1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8892B0"/>
                </a:solidFill>
                <a:latin typeface="Calibri"/>
                <a:ea typeface="Calibri"/>
                <a:cs typeface="Calibri"/>
                <a:sym typeface="Calibri"/>
              </a:rPr>
              <a:t>PO(e)</a:t>
            </a:r>
            <a:endParaRPr/>
          </a:p>
        </p:txBody>
      </p:sp>
      <p:sp>
        <p:nvSpPr>
          <p:cNvPr id="398" name="Google Shape;398;p24"/>
          <p:cNvSpPr txBox="1"/>
          <p:nvPr/>
        </p:nvSpPr>
        <p:spPr>
          <a:xfrm>
            <a:off x="2286000" y="187452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Use modern tools to solve electronic circuit problems.</a:t>
            </a:r>
            <a:endParaRPr/>
          </a:p>
        </p:txBody>
      </p:sp>
      <p:sp>
        <p:nvSpPr>
          <p:cNvPr id="399" name="Google Shape;399;p24"/>
          <p:cNvSpPr txBox="1"/>
          <p:nvPr/>
        </p:nvSpPr>
        <p:spPr>
          <a:xfrm>
            <a:off x="6217920" y="187452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300">
                <a:solidFill>
                  <a:srgbClr val="8892B0"/>
                </a:solidFill>
                <a:latin typeface="Calibri"/>
                <a:ea typeface="Calibri"/>
                <a:cs typeface="Calibri"/>
                <a:sym typeface="Calibri"/>
              </a:rPr>
              <a:t>Used PSpice for transient analysis, parametric sweeps, and probe measurements.</a:t>
            </a:r>
            <a:endParaRPr/>
          </a:p>
        </p:txBody>
      </p:sp>
      <p:sp>
        <p:nvSpPr>
          <p:cNvPr id="400" name="Google Shape;400;p24"/>
          <p:cNvSpPr/>
          <p:nvPr/>
        </p:nvSpPr>
        <p:spPr>
          <a:xfrm>
            <a:off x="731520" y="2697480"/>
            <a:ext cx="10698480" cy="8686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CCD6F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4"/>
          <p:cNvSpPr/>
          <p:nvPr/>
        </p:nvSpPr>
        <p:spPr>
          <a:xfrm>
            <a:off x="731520" y="2697480"/>
            <a:ext cx="137160" cy="868680"/>
          </a:xfrm>
          <a:prstGeom prst="roundRect">
            <a:avLst>
              <a:gd fmla="val 16667" name="adj"/>
            </a:avLst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4"/>
          <p:cNvSpPr txBox="1"/>
          <p:nvPr/>
        </p:nvSpPr>
        <p:spPr>
          <a:xfrm>
            <a:off x="914400" y="283464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CO2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8892B0"/>
                </a:solidFill>
                <a:latin typeface="Calibri"/>
                <a:ea typeface="Calibri"/>
                <a:cs typeface="Calibri"/>
                <a:sym typeface="Calibri"/>
              </a:rPr>
              <a:t>PO(d)</a:t>
            </a:r>
            <a:endParaRPr/>
          </a:p>
        </p:txBody>
      </p:sp>
      <p:sp>
        <p:nvSpPr>
          <p:cNvPr id="403" name="Google Shape;403;p24"/>
          <p:cNvSpPr txBox="1"/>
          <p:nvPr/>
        </p:nvSpPr>
        <p:spPr>
          <a:xfrm>
            <a:off x="2286000" y="283464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Compare theoretical and experimental results.</a:t>
            </a:r>
            <a:endParaRPr/>
          </a:p>
        </p:txBody>
      </p:sp>
      <p:sp>
        <p:nvSpPr>
          <p:cNvPr id="404" name="Google Shape;404;p24"/>
          <p:cNvSpPr txBox="1"/>
          <p:nvPr/>
        </p:nvSpPr>
        <p:spPr>
          <a:xfrm>
            <a:off x="6217920" y="283464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300">
                <a:solidFill>
                  <a:srgbClr val="8892B0"/>
                </a:solidFill>
                <a:latin typeface="Calibri"/>
                <a:ea typeface="Calibri"/>
                <a:cs typeface="Calibri"/>
                <a:sym typeface="Calibri"/>
              </a:rPr>
              <a:t>Derived Transfer Function theoretically; predicted &amp; verified OS/tr/ts in PSpice.</a:t>
            </a:r>
            <a:endParaRPr/>
          </a:p>
        </p:txBody>
      </p:sp>
      <p:sp>
        <p:nvSpPr>
          <p:cNvPr id="405" name="Google Shape;405;p24"/>
          <p:cNvSpPr/>
          <p:nvPr/>
        </p:nvSpPr>
        <p:spPr>
          <a:xfrm>
            <a:off x="731520" y="3657600"/>
            <a:ext cx="10698480" cy="8686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CCD6F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4"/>
          <p:cNvSpPr/>
          <p:nvPr/>
        </p:nvSpPr>
        <p:spPr>
          <a:xfrm>
            <a:off x="731520" y="3657600"/>
            <a:ext cx="137160" cy="868680"/>
          </a:xfrm>
          <a:prstGeom prst="roundRect">
            <a:avLst>
              <a:gd fmla="val 16667" name="adj"/>
            </a:avLst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4"/>
          <p:cNvSpPr txBox="1"/>
          <p:nvPr/>
        </p:nvSpPr>
        <p:spPr>
          <a:xfrm>
            <a:off x="914400" y="379476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CO3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8892B0"/>
                </a:solidFill>
                <a:latin typeface="Calibri"/>
                <a:ea typeface="Calibri"/>
                <a:cs typeface="Calibri"/>
                <a:sym typeface="Calibri"/>
              </a:rPr>
              <a:t>PO(c)</a:t>
            </a:r>
            <a:endParaRPr/>
          </a:p>
        </p:txBody>
      </p:sp>
      <p:sp>
        <p:nvSpPr>
          <p:cNvPr id="408" name="Google Shape;408;p24"/>
          <p:cNvSpPr txBox="1"/>
          <p:nvPr/>
        </p:nvSpPr>
        <p:spPr>
          <a:xfrm>
            <a:off x="2286000" y="379476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Design circuits to attain specific performance.</a:t>
            </a:r>
            <a:endParaRPr/>
          </a:p>
        </p:txBody>
      </p:sp>
      <p:sp>
        <p:nvSpPr>
          <p:cNvPr id="409" name="Google Shape;409;p24"/>
          <p:cNvSpPr txBox="1"/>
          <p:nvPr/>
        </p:nvSpPr>
        <p:spPr>
          <a:xfrm>
            <a:off x="6217920" y="379476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300">
                <a:solidFill>
                  <a:srgbClr val="8892B0"/>
                </a:solidFill>
                <a:latin typeface="Calibri"/>
                <a:ea typeface="Calibri"/>
                <a:cs typeface="Calibri"/>
                <a:sym typeface="Calibri"/>
              </a:rPr>
              <a:t>Closed-loop PID met specs (OS&lt;15%, tr&lt;1s) via mathematical parameter derivation.</a:t>
            </a:r>
            <a:endParaRPr/>
          </a:p>
        </p:txBody>
      </p:sp>
      <p:sp>
        <p:nvSpPr>
          <p:cNvPr id="410" name="Google Shape;410;p24"/>
          <p:cNvSpPr/>
          <p:nvPr/>
        </p:nvSpPr>
        <p:spPr>
          <a:xfrm>
            <a:off x="731520" y="4617720"/>
            <a:ext cx="10698480" cy="8686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CCD6F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24"/>
          <p:cNvSpPr/>
          <p:nvPr/>
        </p:nvSpPr>
        <p:spPr>
          <a:xfrm>
            <a:off x="731520" y="4617720"/>
            <a:ext cx="137160" cy="868680"/>
          </a:xfrm>
          <a:prstGeom prst="roundRect">
            <a:avLst>
              <a:gd fmla="val 16667" name="adj"/>
            </a:avLst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4"/>
          <p:cNvSpPr txBox="1"/>
          <p:nvPr/>
        </p:nvSpPr>
        <p:spPr>
          <a:xfrm>
            <a:off x="914400" y="475488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CO4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8892B0"/>
                </a:solidFill>
                <a:latin typeface="Calibri"/>
                <a:ea typeface="Calibri"/>
                <a:cs typeface="Calibri"/>
                <a:sym typeface="Calibri"/>
              </a:rPr>
              <a:t>PO(j)</a:t>
            </a:r>
            <a:endParaRPr/>
          </a:p>
        </p:txBody>
      </p:sp>
      <p:sp>
        <p:nvSpPr>
          <p:cNvPr id="413" name="Google Shape;413;p24"/>
          <p:cNvSpPr txBox="1"/>
          <p:nvPr/>
        </p:nvSpPr>
        <p:spPr>
          <a:xfrm>
            <a:off x="2286000" y="475488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Demonstrate designed electronic systems.</a:t>
            </a:r>
            <a:endParaRPr/>
          </a:p>
        </p:txBody>
      </p:sp>
      <p:sp>
        <p:nvSpPr>
          <p:cNvPr id="414" name="Google Shape;414;p24"/>
          <p:cNvSpPr txBox="1"/>
          <p:nvPr/>
        </p:nvSpPr>
        <p:spPr>
          <a:xfrm>
            <a:off x="6217920" y="475488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300">
                <a:solidFill>
                  <a:srgbClr val="8892B0"/>
                </a:solidFill>
                <a:latin typeface="Calibri"/>
                <a:ea typeface="Calibri"/>
                <a:cs typeface="Calibri"/>
                <a:sym typeface="Calibri"/>
              </a:rPr>
              <a:t>Full presentation of schematics, waveforms, and advanced disturbance rejection.</a:t>
            </a:r>
            <a:endParaRPr/>
          </a:p>
        </p:txBody>
      </p:sp>
      <p:sp>
        <p:nvSpPr>
          <p:cNvPr id="415" name="Google Shape;415;p24"/>
          <p:cNvSpPr/>
          <p:nvPr/>
        </p:nvSpPr>
        <p:spPr>
          <a:xfrm>
            <a:off x="731520" y="5577840"/>
            <a:ext cx="10698480" cy="8686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9525">
            <a:solidFill>
              <a:srgbClr val="CCD6F6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4"/>
          <p:cNvSpPr/>
          <p:nvPr/>
        </p:nvSpPr>
        <p:spPr>
          <a:xfrm>
            <a:off x="731520" y="5577840"/>
            <a:ext cx="137160" cy="868680"/>
          </a:xfrm>
          <a:prstGeom prst="roundRect">
            <a:avLst>
              <a:gd fmla="val 16667" name="adj"/>
            </a:avLst>
          </a:prstGeom>
          <a:solidFill>
            <a:srgbClr val="64FFD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4"/>
          <p:cNvSpPr txBox="1"/>
          <p:nvPr/>
        </p:nvSpPr>
        <p:spPr>
          <a:xfrm>
            <a:off x="914400" y="5715000"/>
            <a:ext cx="1371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CO5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8892B0"/>
                </a:solidFill>
                <a:latin typeface="Calibri"/>
                <a:ea typeface="Calibri"/>
                <a:cs typeface="Calibri"/>
                <a:sym typeface="Calibri"/>
              </a:rPr>
              <a:t>PO(i)</a:t>
            </a:r>
            <a:endParaRPr/>
          </a:p>
        </p:txBody>
      </p:sp>
      <p:sp>
        <p:nvSpPr>
          <p:cNvPr id="418" name="Google Shape;418;p24"/>
          <p:cNvSpPr txBox="1"/>
          <p:nvPr/>
        </p:nvSpPr>
        <p:spPr>
          <a:xfrm>
            <a:off x="2286000" y="571500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A192F"/>
                </a:solidFill>
                <a:latin typeface="Calibri"/>
                <a:ea typeface="Calibri"/>
                <a:cs typeface="Calibri"/>
                <a:sym typeface="Calibri"/>
              </a:rPr>
              <a:t>Demonstrate effective teamwork skills.</a:t>
            </a:r>
            <a:endParaRPr/>
          </a:p>
        </p:txBody>
      </p:sp>
      <p:sp>
        <p:nvSpPr>
          <p:cNvPr id="419" name="Google Shape;419;p24"/>
          <p:cNvSpPr txBox="1"/>
          <p:nvPr/>
        </p:nvSpPr>
        <p:spPr>
          <a:xfrm>
            <a:off x="6217920" y="5715000"/>
            <a:ext cx="5029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300">
                <a:solidFill>
                  <a:srgbClr val="8892B0"/>
                </a:solidFill>
                <a:latin typeface="Calibri"/>
                <a:ea typeface="Calibri"/>
                <a:cs typeface="Calibri"/>
                <a:sym typeface="Calibri"/>
              </a:rPr>
              <a:t>Project modules successfully distributed and executed between two members.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2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25"/>
          <p:cNvSpPr txBox="1"/>
          <p:nvPr/>
        </p:nvSpPr>
        <p:spPr>
          <a:xfrm>
            <a:off x="2615100" y="1910080"/>
            <a:ext cx="6433171" cy="26161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400">
                <a:solidFill>
                  <a:srgbClr val="FFFFFF"/>
                </a:solidFill>
                <a:latin typeface="Corben"/>
                <a:ea typeface="Corben"/>
                <a:cs typeface="Corben"/>
                <a:sym typeface="Corben"/>
              </a:rPr>
              <a:t>THANK YOU</a:t>
            </a:r>
            <a:endParaRPr sz="180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400">
                <a:solidFill>
                  <a:srgbClr val="FFFFFF"/>
                </a:solidFill>
                <a:latin typeface="Corben"/>
                <a:ea typeface="Corben"/>
                <a:cs typeface="Corben"/>
                <a:sym typeface="Corben"/>
              </a:rPr>
              <a:t>Any Questions?</a:t>
            </a:r>
            <a:endParaRPr sz="180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>
                <a:solidFill>
                  <a:schemeClr val="dk1"/>
                </a:solidFill>
                <a:latin typeface="Corben"/>
                <a:ea typeface="Corben"/>
                <a:cs typeface="Corben"/>
                <a:sym typeface="Corben"/>
              </a:rPr>
            </a:br>
            <a:r>
              <a:rPr lang="en-US" sz="1800">
                <a:solidFill>
                  <a:schemeClr val="dk1"/>
                </a:solidFill>
                <a:latin typeface="Corben"/>
                <a:ea typeface="Corben"/>
                <a:cs typeface="Corben"/>
                <a:sym typeface="Corben"/>
              </a:rPr>
              <a:t>                                                        </a:t>
            </a:r>
            <a:endParaRPr sz="9600">
              <a:solidFill>
                <a:schemeClr val="dk1"/>
              </a:solidFill>
              <a:latin typeface="Corben"/>
              <a:ea typeface="Corben"/>
              <a:cs typeface="Corben"/>
              <a:sym typeface="Corbe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2026-09-25T14:14:27Z</dcterms:created>
  <dc:creator>Shafat Iqbal</dc:creator>
</cp:coreProperties>
</file>