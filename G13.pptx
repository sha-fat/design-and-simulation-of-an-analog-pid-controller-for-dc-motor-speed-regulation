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Corben" panose="020B0604020202020204" charset="0"/>
      <p:regular r:id="rId29"/>
    </p:embeddedFont>
    <p:embeddedFont>
      <p:font typeface="Instrument Sans Bold" panose="020B0604020202020204" charset="0"/>
      <p:regular r:id="rId30"/>
    </p:embeddedFont>
    <p:embeddedFont>
      <p:font typeface="Instrument Sans Medium" panose="020B0604020202020204" charset="0"/>
      <p:regular r:id="rId31"/>
    </p:embeddedFont>
    <p:embeddedFont>
      <p:font typeface="Instrument Sans SemiBold" panose="020B0604020202020204" charset="0"/>
      <p:regular r:id="rId32"/>
    </p:embeddedFont>
    <p:embeddedFont>
      <p:font typeface="Nobile Medium" panose="020B0604020202020204" charset="0"/>
      <p:regular r:id="rId33"/>
    </p:embeddedFont>
    <p:embeddedFont>
      <p:font typeface="Tinos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378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07" y="-31055"/>
            <a:ext cx="12203204" cy="6920309"/>
          </a:xfrm>
          <a:prstGeom prst="rect">
            <a:avLst/>
          </a:prstGeom>
        </p:spPr>
      </p:pic>
      <p:pic>
        <p:nvPicPr>
          <p:cNvPr id="9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5.jpe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jpe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7.pn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jpeg"/><Relationship Id="rId5" Type="http://schemas.openxmlformats.org/officeDocument/2006/relationships/image" Target="../media/image7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483" y="6491089"/>
            <a:ext cx="1638457" cy="3238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16359"/>
            <a:ext cx="490346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ANALOG  PID CONTROLLER 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661376" y="1579463"/>
            <a:ext cx="4903466" cy="13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00" i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</a:t>
            </a:r>
            <a:r>
              <a:rPr lang="en-US" sz="3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</a:t>
            </a:r>
            <a:endParaRPr lang="en-US" sz="3700" dirty="0"/>
          </a:p>
          <a:p>
            <a:pPr marL="0" indent="0" algn="l">
              <a:lnSpc>
                <a:spcPct val="80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DC Motor Speed Regulation</a:t>
            </a:r>
            <a:endParaRPr lang="en-US" sz="3700" dirty="0"/>
          </a:p>
        </p:txBody>
      </p:sp>
      <p:sp>
        <p:nvSpPr>
          <p:cNvPr id="7" name="Text 2"/>
          <p:cNvSpPr/>
          <p:nvPr/>
        </p:nvSpPr>
        <p:spPr>
          <a:xfrm>
            <a:off x="661376" y="2994025"/>
            <a:ext cx="441571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DC Motor Speed Control, Transient Optimization &amp; Tuning in OrCAD/PSpice 9.2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Department of Electrical and Electronic Engineering (EEE)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Bangladesh University of Engineering and Technology (BUET)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Presented By: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• Shafat Iqbal (Student ID: 2306025)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• Maruf Raihan (Student ID: 2306026)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585" y="613370"/>
            <a:ext cx="776565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72" dirty="0">
                <a:solidFill>
                  <a:srgbClr val="40415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&amp; MOTIVATION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09585" y="844252"/>
            <a:ext cx="654648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precise motor speed control matters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09585" y="2417762"/>
            <a:ext cx="67068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DC motors power systems where speed stability affects performance, safety, and product quality.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09585" y="3382367"/>
            <a:ext cx="6546488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</a:t>
            </a:r>
            <a:endParaRPr lang="en-US" sz="3450" dirty="0"/>
          </a:p>
        </p:txBody>
      </p:sp>
      <p:sp>
        <p:nvSpPr>
          <p:cNvPr id="8" name="Text 4"/>
          <p:cNvSpPr/>
          <p:nvPr/>
        </p:nvSpPr>
        <p:spPr>
          <a:xfrm>
            <a:off x="609585" y="4134445"/>
            <a:ext cx="65464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changes and motor back-EMF can cause speed droop, while aggressive correction can create overshoot and oscillation.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9585" y="5099050"/>
            <a:ext cx="6546488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motivation</a:t>
            </a:r>
            <a:endParaRPr lang="en-US" sz="3450" dirty="0"/>
          </a:p>
        </p:txBody>
      </p:sp>
      <p:sp>
        <p:nvSpPr>
          <p:cNvPr id="10" name="Text 6"/>
          <p:cNvSpPr/>
          <p:nvPr/>
        </p:nvSpPr>
        <p:spPr>
          <a:xfrm>
            <a:off x="609585" y="5851227"/>
            <a:ext cx="65464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 and validate an analog PID controller that delivers fast, stable, accurate speed regulation using measurable performance targets.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480" y="1562100"/>
            <a:ext cx="2692134" cy="15144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480" y="3521075"/>
            <a:ext cx="2692134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362" y="1372394"/>
            <a:ext cx="7338234" cy="54910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78445"/>
            <a:ext cx="10753754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Scope &amp; Electromechanical Specifications</a:t>
            </a:r>
            <a:endParaRPr lang="en-US" sz="3100" dirty="0"/>
          </a:p>
        </p:txBody>
      </p:sp>
      <p:sp>
        <p:nvSpPr>
          <p:cNvPr id="6" name="Text 1"/>
          <p:cNvSpPr/>
          <p:nvPr/>
        </p:nvSpPr>
        <p:spPr>
          <a:xfrm>
            <a:off x="661376" y="1413073"/>
            <a:ext cx="465562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Performance Criteria: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661376" y="1771352"/>
            <a:ext cx="355075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Maximum Overshoot (Mp): Strictly &lt; 15.0% for all step commands.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Rise Time (tr): Fast dynamic response with tr &lt; 1.0 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Settling Time (ts): Damped transient reaching ±2% band within ts &lt; 3 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Steady-State Error (ess): High tracking precision with ess &lt; 0.05 V (&lt; 0.2%).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661376" y="3876873"/>
            <a:ext cx="3635086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Motor Parameters (Permanent Magnet DC Plant):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661376" y="4560888"/>
            <a:ext cx="3550752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Armature Resistance (Ra): 2.0 Ω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Armature Inductance (La): 20.0 mH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Torque Constant (Kt): 0.05 N·m/A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Back-EMF Constant (Kb): 0.05 V·s/rad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Rotor Inertia (J): 0.01 kg·m²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Viscous Damping (B): 0.01 N·m·s/rad</a:t>
            </a:r>
            <a:endParaRPr lang="en-US" sz="12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8D427B-573E-43FB-A6D7-181EECD247B4}"/>
              </a:ext>
            </a:extLst>
          </p:cNvPr>
          <p:cNvSpPr/>
          <p:nvPr/>
        </p:nvSpPr>
        <p:spPr>
          <a:xfrm>
            <a:off x="5683624" y="5674659"/>
            <a:ext cx="493058" cy="2061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6D083-9803-475E-82C1-ADE52F70CEEC}"/>
              </a:ext>
            </a:extLst>
          </p:cNvPr>
          <p:cNvSpPr txBox="1"/>
          <p:nvPr/>
        </p:nvSpPr>
        <p:spPr>
          <a:xfrm>
            <a:off x="5656730" y="5593087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3.0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59041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69813"/>
            <a:ext cx="1075375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Plant Modeling: The DC Motor Equivalent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212949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Differential Equations Governing the Electromechanical System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1927225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Electrical Subsystem (Armature):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4326" y="2437507"/>
            <a:ext cx="3545096" cy="5266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3190974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Mechanical Subsystem (Rotor):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5924" y="3701355"/>
            <a:ext cx="3342001" cy="52665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1376" y="4810720"/>
            <a:ext cx="5914480" cy="837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Coupled Dynamics: Injected armature current generates torque ( ), accelerating the rotor. The rotating shaft produces opposing back-EMF ( ), naturally limiting maximum speed.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2798" y="4810720"/>
            <a:ext cx="547079" cy="23911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8363" y="4810719"/>
            <a:ext cx="501737" cy="239117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798" y="1994892"/>
            <a:ext cx="5728053" cy="3127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43520"/>
            <a:ext cx="10753754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Transfer Function &amp; Parameters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661376" y="1163638"/>
            <a:ext cx="1075375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Laplace-Domain Plant Model for Simulation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661376" y="1837531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Combined Plant Transfer Function: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76" y="2324199"/>
            <a:ext cx="5782919" cy="5699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3102670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DC motor Parameters: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61376" y="3526730"/>
            <a:ext cx="752595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Resistance (   ): 2   Ohm     Inductance (       ): </a:t>
            </a:r>
            <a:r>
              <a:rPr lang="en-US" sz="1350" dirty="0">
                <a:solidFill>
                  <a:srgbClr val="1E306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20.0 mH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319" y="3564026"/>
            <a:ext cx="203889" cy="23425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757" y="3557788"/>
            <a:ext cx="190594" cy="23425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61376" y="3871020"/>
            <a:ext cx="752595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Torque Cons      (  ): 0.05     | Back-EMF Const. (Kb):0.05 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937" y="3910905"/>
            <a:ext cx="199226" cy="23425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61376" y="4215705"/>
            <a:ext cx="752595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Rotor Inertia ( J):           | Viscous Friction ( ): </a:t>
            </a:r>
            <a:endParaRPr lang="en-US" sz="135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7734" y="4255591"/>
            <a:ext cx="307670" cy="234255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0064" y="4245631"/>
            <a:ext cx="139895" cy="23425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689" y="4247158"/>
            <a:ext cx="307670" cy="234255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661376" y="4651474"/>
            <a:ext cx="74973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Numerical Characteristic Polynomial:</a:t>
            </a:r>
            <a:endParaRPr lang="en-US" sz="135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0507" y="3010991"/>
            <a:ext cx="5945733" cy="2180034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2897" y="5077321"/>
            <a:ext cx="5051398" cy="1107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33641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947241"/>
            <a:ext cx="1147307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Error &amp; Proportional Stages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590377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Implementing Subtraction and Proportional Gain via Op-Amps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2304752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Error Subtractor Stage: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1376" y="2752824"/>
            <a:ext cx="75162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differential amplifier topology computes           .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121" y="2800945"/>
            <a:ext cx="1746306" cy="23911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1376" y="3120430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 matched resistors to ensure high Common Mode Rejection Ratio (CMRR).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246" y="5910759"/>
            <a:ext cx="536562" cy="23911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37846" y="2276177"/>
            <a:ext cx="6271659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Proportional Gain Stage (   ):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460" y="2311598"/>
            <a:ext cx="223733" cy="24001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37846" y="2724249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Inverting amplifier topology with                          .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2653" y="2765028"/>
            <a:ext cx="1023813" cy="23911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437846" y="3091855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Tuning: Feedback resistor finalized at 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4573" y="3140174"/>
            <a:ext cx="994246" cy="239117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437846" y="3459460"/>
            <a:ext cx="62970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Yields a calibrated stage gain of                   .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2887" y="3507680"/>
            <a:ext cx="690446" cy="239117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7446" y="3682206"/>
            <a:ext cx="3808714" cy="3057525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0843" y="3783409"/>
            <a:ext cx="3933032" cy="285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07231"/>
            <a:ext cx="1147307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Integral &amp; Derivative Stages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61376" y="1350367"/>
            <a:ext cx="10753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Realizing Continuous Integration and Active Damping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61376" y="2064544"/>
            <a:ext cx="74908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Integral   Gain Stage (  ):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919" y="2100163"/>
            <a:ext cx="203790" cy="2400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376" y="2512616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Miller integrator holds accumulated charge to force steady-state error  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4907" y="2849364"/>
            <a:ext cx="577141" cy="23911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1376" y="3168650"/>
            <a:ext cx="751622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Circuit components tuned to yield                           .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5466" y="3208635"/>
            <a:ext cx="1133546" cy="23911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249037" y="2107803"/>
            <a:ext cx="6271659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Derivative Gain    Stage (  ):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454" y="2143323"/>
            <a:ext cx="225915" cy="24001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249037" y="2555875"/>
            <a:ext cx="5776371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Damped differentiator limits high-frequency noise amplification from the tachometer.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6249037" y="3194645"/>
            <a:ext cx="5942658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gain constant configured to  for optimal phase lead.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613" y="3473946"/>
            <a:ext cx="897213" cy="239117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425" y="3638649"/>
            <a:ext cx="3644412" cy="262949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846" y="3760192"/>
            <a:ext cx="4447865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2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66266"/>
            <a:ext cx="11473072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Analog Circuit Design: Summation &amp; Power Drive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432520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Combining Control Signals and Driving the Load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661376" y="2190750"/>
            <a:ext cx="748428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Summing &amp; Inverting Stage: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6553135" y="2190750"/>
            <a:ext cx="352237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Power Driver Stage: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61376" y="2663230"/>
            <a:ext cx="5098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unity-gain inverting summer combines the parallel channels:  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736" y="3006923"/>
            <a:ext cx="2017662" cy="250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376" y="3344466"/>
            <a:ext cx="521064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subsequent inverting buffer restores correct polarity to generate the final Controller Output (      ).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7198" y="3688259"/>
            <a:ext cx="291200" cy="2504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553135" y="2663230"/>
            <a:ext cx="553646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High-current Push-Pull BJT/MOSFET bridge injects the required armature current into the motor plant based on the CO  voltage.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945" y="4159349"/>
            <a:ext cx="4215501" cy="228887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3608784"/>
            <a:ext cx="2104972" cy="409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09E73E-0015-A59F-E953-A8925D7BEC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245" t="24718" r="12942" b="6375"/>
          <a:stretch>
            <a:fillRect/>
          </a:stretch>
        </p:blipFill>
        <p:spPr>
          <a:xfrm>
            <a:off x="6540007" y="3546971"/>
            <a:ext cx="5304943" cy="3350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585" y="609600"/>
            <a:ext cx="1152496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OrCAD/PSpice 9.2 Architecture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585" y="1600200"/>
            <a:ext cx="2922118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Closed-loop model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609585" y="2727424"/>
            <a:ext cx="292211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Reference input → Error amplifier → Analog PID → Power drive → DC motor → Speed feedback → error stage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045940" y="1444625"/>
            <a:ext cx="7535773" cy="4316710"/>
          </a:xfrm>
          <a:prstGeom prst="roundRect">
            <a:avLst>
              <a:gd name="adj" fmla="val 2076"/>
            </a:avLst>
          </a:prstGeom>
          <a:solidFill>
            <a:srgbClr val="E2E2E9"/>
          </a:solidFill>
          <a:ln/>
        </p:spPr>
      </p:sp>
      <p:sp>
        <p:nvSpPr>
          <p:cNvPr id="8" name="Text 4"/>
          <p:cNvSpPr/>
          <p:nvPr/>
        </p:nvSpPr>
        <p:spPr>
          <a:xfrm>
            <a:off x="4198336" y="1597025"/>
            <a:ext cx="7230981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PSpice circuit</a:t>
            </a:r>
            <a:endParaRPr lang="en-US" sz="2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51" y="2219325"/>
            <a:ext cx="6019451" cy="3037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8718" y="993973"/>
            <a:ext cx="6468702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Optimization &amp; Damping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68718" y="1498798"/>
            <a:ext cx="59091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Troubleshooting Overshoot in Worst-Case Transients</a:t>
            </a:r>
            <a:endParaRPr lang="en-US" sz="22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2735560"/>
            <a:ext cx="6296463" cy="1046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08623" y="2899271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Tuning Dilemma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08623" y="3161010"/>
            <a:ext cx="5523072" cy="39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aggressive gains caused borderline overshoot on Test T8 ( step), failing the 15% constraint.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995" y="3374727"/>
            <a:ext cx="784801" cy="17750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3892649"/>
            <a:ext cx="6296463" cy="104616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08623" y="4056360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Parameter Adjustment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908623" y="4317802"/>
            <a:ext cx="5523072" cy="63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proportional feedback resistor was locked at ( Rf=950 k Ohm ,Kp=9.5 ). This perfectly balanced proportional push with the derivative damping channel (</a:t>
            </a:r>
            <a:r>
              <a:rPr lang="en-US" sz="1100" i="1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Kd = 0.04s 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).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718" y="5049738"/>
            <a:ext cx="6296463" cy="83294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08623" y="5213449"/>
            <a:ext cx="674224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Verified Result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908623" y="5490567"/>
            <a:ext cx="756980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T8 peak speed finally dropped to   31.436 V  , yielding a finalized Mp= 14.66%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068" y="1072356"/>
            <a:ext cx="5123032" cy="5560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949" y="6400800"/>
            <a:ext cx="198115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348" y="6376392"/>
            <a:ext cx="2474851" cy="48140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61475" y="860425"/>
            <a:ext cx="11472972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Experimental Performance Verification (Tests T1 – T8)</a:t>
            </a:r>
            <a:endParaRPr lang="en-US" sz="31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76" y="2145109"/>
            <a:ext cx="11402330" cy="34009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135" y="2798167"/>
            <a:ext cx="1035123" cy="24189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566135" y="2763838"/>
            <a:ext cx="1036413" cy="27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0.007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425" y="6448425"/>
            <a:ext cx="21049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701675"/>
            <a:ext cx="10810902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Analysis &amp; Performance Validation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661376" y="1739503"/>
            <a:ext cx="1075375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 → 20 V Step Test · Verifying Design Against Strict Specifications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60383" y="2070100"/>
            <a:ext cx="4978275" cy="2730500"/>
          </a:xfrm>
          <a:prstGeom prst="roundRect">
            <a:avLst>
              <a:gd name="adj" fmla="val 4465"/>
            </a:avLst>
          </a:prstGeom>
          <a:solidFill>
            <a:srgbClr val="F4F8FF"/>
          </a:solidFill>
          <a:ln w="19050">
            <a:solidFill>
              <a:srgbClr val="B7CBE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831829" y="2216150"/>
            <a:ext cx="463538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SPECIFICATIONS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812780" y="26035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27077" y="26924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Maximum Overshoot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15%  |  Result: 12.51%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812780" y="31369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8FB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27077" y="32258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Rise Time (tr)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1 s  |  Result: 0.548 s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812780" y="36703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27077" y="37592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Settling Time (ts)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&lt; 3 s  |  Result: 2.2058 s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12780" y="4203700"/>
            <a:ext cx="4673483" cy="431800"/>
          </a:xfrm>
          <a:prstGeom prst="roundRect">
            <a:avLst>
              <a:gd name="adj" fmla="val 17647"/>
            </a:avLst>
          </a:prstGeom>
          <a:solidFill>
            <a:srgbClr val="F8FB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7077" y="4292600"/>
            <a:ext cx="505447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Max Steady-State Error</a:t>
            </a:r>
            <a:r>
              <a:rPr lang="en-US" sz="85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|  Target: Minimize  |  Result: 0.021  |  </a:t>
            </a:r>
            <a:r>
              <a:rPr lang="en-US" sz="850" b="1" dirty="0">
                <a:solidFill>
                  <a:srgbClr val="16834B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PASS ✓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60383" y="4851400"/>
            <a:ext cx="4978275" cy="482600"/>
          </a:xfrm>
          <a:prstGeom prst="roundRect">
            <a:avLst>
              <a:gd name="adj" fmla="val 25263"/>
            </a:avLst>
          </a:prstGeom>
          <a:solidFill>
            <a:srgbClr val="E4F5EA"/>
          </a:solidFill>
          <a:ln w="19050">
            <a:solidFill>
              <a:srgbClr val="16834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1637" y="4946650"/>
            <a:ext cx="52957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26B3D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ALL SPECIFICATIONS MET ✓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10105" y="2628900"/>
            <a:ext cx="585455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60383" y="5461000"/>
            <a:ext cx="10870928" cy="708620"/>
          </a:xfrm>
          <a:prstGeom prst="roundRect">
            <a:avLst>
              <a:gd name="adj" fmla="val 17205"/>
            </a:avLst>
          </a:prstGeom>
          <a:solidFill>
            <a:srgbClr val="EAF3FF"/>
          </a:solidFill>
          <a:ln w="19050">
            <a:solidFill>
              <a:srgbClr val="8FB8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1829" y="5594350"/>
            <a:ext cx="1052803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Conclusion:</a:t>
            </a: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For the 0 → 20 V test condition, the analog PID controller successfully regulates DC motor speed. The measured overshoot (12.51%), rise time (0.548 s), settling time (2.2058 s), and steady-state error (0.021) meet all strict performance specifications.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ECB78D-0087-4354-8275-D7C61A06F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399" y="2105572"/>
            <a:ext cx="5609953" cy="3228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61578"/>
            <a:ext cx="1075375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Load Disturbance Rejection Analysis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661376" y="1091406"/>
            <a:ext cx="10753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Evaluating Controller Robustness (Cases D1 – D4)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704138" y="1787227"/>
            <a:ext cx="62658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Disturbance Test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704138" y="2122884"/>
            <a:ext cx="484721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steady-state operating speed is established. At  t= 10s, a sudden mechanical load (torque step) is applied to the motor shaft.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04138" y="2694484"/>
            <a:ext cx="4890469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controller must detect the sudden speed drop and inject additional armature current to reject the disturbance and recover the setpoint.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89121" y="1787227"/>
            <a:ext cx="59025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289121" y="2122884"/>
            <a:ext cx="529080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active integral stage (                ) successfully forces the steady-state error back to baseline ( maximum) regardless of the load magnitude.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682" y="2183606"/>
            <a:ext cx="171148" cy="19248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224" y="2188666"/>
            <a:ext cx="575256" cy="1924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9121" y="2708970"/>
            <a:ext cx="529080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Maximum speed deviation scales linearly with the magnitude of the applied torque step.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61376" y="3482578"/>
            <a:ext cx="10753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Experimental Disturbance Data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376" y="4053681"/>
          <a:ext cx="10868050" cy="2229984"/>
        </p:xfrm>
        <a:graphic>
          <a:graphicData uri="http://schemas.openxmlformats.org/drawingml/2006/table">
            <a:tbl>
              <a:tblPr/>
              <a:tblGrid>
                <a:gridCol w="108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0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0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0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Disturbance Case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Applied At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Load Condition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Maximum Deviation (V)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Recovery Time (s)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Final Error (V)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16202" marB="1162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D1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 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0.223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0.028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D2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0.456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0.519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0.026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0.684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0.793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0.028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5027" marB="105027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D4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 = 10s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40% load change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0.913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0.982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281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0.030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3539" marR="153539" marT="109725" marB="109725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29828"/>
            <a:ext cx="10753754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Recovery Waveforms (D1 – D4)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661376" y="1026120"/>
            <a:ext cx="10753754" cy="357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Visualizing Speed Sag and Integral Compensation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661376" y="1432123"/>
            <a:ext cx="1153031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Waveform Analysis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61376" y="180905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waveforms demonstrate the immediate voltage sag (speed drop) precisely at t=10s 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61376" y="214689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smooth, monotonic recovery curves prove the system remains critically damped even under sudden heavy loading, with zero secondary oscillations during recovery.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61376" y="2680295"/>
            <a:ext cx="11530319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Even under the severe 40% load step (D4), the controller fully recovers within 0.982s 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61376" y="3074988"/>
            <a:ext cx="1153031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Recovery Waveform ( 40% of nominal load)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E0654C-396B-45E1-802C-AF4B5D3FA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731" y="3429000"/>
            <a:ext cx="7506350" cy="29110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521692"/>
            <a:ext cx="10753754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Course Outcome Mapping — EEE 208(S)</a:t>
            </a:r>
            <a:endParaRPr lang="en-US" sz="2950" dirty="0"/>
          </a:p>
        </p:txBody>
      </p:sp>
      <p:sp>
        <p:nvSpPr>
          <p:cNvPr id="6" name="Text 1"/>
          <p:cNvSpPr/>
          <p:nvPr/>
        </p:nvSpPr>
        <p:spPr>
          <a:xfrm>
            <a:off x="661376" y="1040209"/>
            <a:ext cx="1153031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Alignment with Program Outcomes and Assessment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376" y="1455539"/>
          <a:ext cx="10868051" cy="5040612"/>
        </p:xfrm>
        <a:graphic>
          <a:graphicData uri="http://schemas.openxmlformats.org/drawingml/2006/table">
            <a:tbl>
              <a:tblPr/>
              <a:tblGrid>
                <a:gridCol w="108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Outcome Description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Project Execution &amp; Evidence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CO1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PO(e)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 modern tools to solve problems relevant to electronic circuits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Used PSpice for all simulations. Implemented transient analysis, parametric sweep and probe measurements.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CO2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PO(d)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Compare theoretical and experimental results of electronic circuits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Derived TF mathematically (pole-placement), predicted OS/tr/ts from formulas, then verified each in PSpice.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CO3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PO(c)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Design electronic circuits so that specific performance characteristics are attained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Designed the full closed-loop PID to meet three simultaneous specs (OS&lt;15%, tr&lt;1s, ts&lt;3s). Chose component values from mathematical derivation. All specs met in final simulation.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0618" marR="150618" marT="309619" marB="309619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CO4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PO(j)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Demonstrate and present designed electronic circuits/systems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Full presentation with circuit schematic, waveforms, systematic tuning table, and three advanced demonstrations (noise, anti-windup, disturbance).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36902" marB="136902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CO5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PO(i)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Demonstrate effective individual and team-working skills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25219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Project divided between two members.</a:t>
                      </a:r>
                      <a:endParaRPr lang="en-US" sz="11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0618" marR="150618" marT="141728" marB="141728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1127820"/>
            <a:ext cx="10753754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Limitations &amp; Future Work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794073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Practical Constraints and Next Steps for Hardware Realization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714357" y="2561927"/>
            <a:ext cx="4983335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Limitations</a:t>
            </a: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714357" y="3055541"/>
            <a:ext cx="5097633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PSpice does not capture every real motor non-linearity or parameter variation.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Op-amp bandwidth, slew rate and offset can alter practical response.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Transistor SOA, thermal behavior and crossover effects require hardware validation.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14357" y="5068391"/>
            <a:ext cx="691527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Component tolerances shift the realized   ,    and   .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024" y="5109666"/>
            <a:ext cx="230975" cy="25042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3043" y="5116116"/>
            <a:ext cx="210636" cy="25042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298" y="5109666"/>
            <a:ext cx="233257" cy="25042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332280" y="2561927"/>
            <a:ext cx="508919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Work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6332280" y="3055541"/>
            <a:ext cx="5203496" cy="2356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the controller with a physical DC motor and speed sensor.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 realistic load, sensing and non-linear motor effects.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 tolerance, temperature and supply-variation tests.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Refine the power stage and tune performance over the chosen operating range.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1376" y="668338"/>
            <a:ext cx="10753754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References</a:t>
            </a:r>
            <a:endParaRPr lang="en-US" sz="3700" dirty="0"/>
          </a:p>
        </p:txBody>
      </p:sp>
      <p:sp>
        <p:nvSpPr>
          <p:cNvPr id="6" name="Text 1"/>
          <p:cNvSpPr/>
          <p:nvPr/>
        </p:nvSpPr>
        <p:spPr>
          <a:xfrm>
            <a:off x="661376" y="1334591"/>
            <a:ext cx="10753754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Foundational Texts and Technical Documentation</a:t>
            </a:r>
            <a:endParaRPr lang="en-US" sz="18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76" y="1913334"/>
            <a:ext cx="3496580" cy="20399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77479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Control Systems Engineering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977479" y="2841030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Nise, N. S., </a:t>
            </a:r>
            <a:r>
              <a:rPr lang="en-US" sz="14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 Systems Engineering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PID design and transient-response analysis.</a:t>
            </a:r>
            <a:endParaRPr lang="en-US" sz="14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062" y="1913334"/>
            <a:ext cx="3496580" cy="203993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663065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Cadence OrCAD / PSpice 9.2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4663065" y="2841030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Cadence OrCAD / PSpice 9.2 — schematic capture and transient simulation.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747" y="1913334"/>
            <a:ext cx="3496580" cy="20399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348751" y="2035969"/>
            <a:ext cx="2851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Operational-Amplifier Documentation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348751" y="2841030"/>
            <a:ext cx="291160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Operational-amplifier datasheet / model documentation used in the simulation.</a:t>
            </a:r>
            <a:endParaRPr lang="en-US" sz="14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76" y="4142184"/>
            <a:ext cx="3496580" cy="20471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7479" y="4356695"/>
            <a:ext cx="2881340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Transistor Datasheets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977479" y="4774605"/>
            <a:ext cx="285187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BD135, BD136, BD203 and BD204 transistor datasheets / simulation models.</a:t>
            </a:r>
            <a:endParaRPr lang="en-US" sz="14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062" y="4142184"/>
            <a:ext cx="3496580" cy="20471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663065" y="4356695"/>
            <a:ext cx="2851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Proposal</a:t>
            </a:r>
            <a:endParaRPr lang="en-US" sz="1850" dirty="0"/>
          </a:p>
        </p:txBody>
      </p:sp>
      <p:sp>
        <p:nvSpPr>
          <p:cNvPr id="21" name="Text 11"/>
          <p:cNvSpPr/>
          <p:nvPr/>
        </p:nvSpPr>
        <p:spPr>
          <a:xfrm>
            <a:off x="4663065" y="4774605"/>
            <a:ext cx="2851872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Proposal: "Design and Simulation of an Analog PID Controller for DC Motor Speed Regulation", EEE 208(S).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04" y="6558955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06" y="6558855"/>
            <a:ext cx="1071833" cy="255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127" y="6448425"/>
            <a:ext cx="2105072" cy="409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68492" y="2328664"/>
            <a:ext cx="610070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4368492" y="3552924"/>
            <a:ext cx="6100709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Questions ???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1509</Words>
  <Application>Microsoft Office PowerPoint</Application>
  <PresentationFormat>Widescreen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Nobile Medium</vt:lpstr>
      <vt:lpstr>Calibri</vt:lpstr>
      <vt:lpstr>Instrument Sans Medium</vt:lpstr>
      <vt:lpstr>Instrument Sans SemiBold</vt:lpstr>
      <vt:lpstr>Tinos</vt:lpstr>
      <vt:lpstr>Instrument Sans Bold</vt:lpstr>
      <vt:lpstr>Instrument Sans</vt:lpstr>
      <vt:lpstr>Carlito</vt:lpstr>
      <vt:lpstr>Corben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Shafat Iqbal</dc:creator>
  <cp:lastModifiedBy>2306025 - Shafat Iqbal</cp:lastModifiedBy>
  <cp:revision>6</cp:revision>
  <dcterms:created xsi:type="dcterms:W3CDTF">2026-09-25T14:14:27Z</dcterms:created>
  <dcterms:modified xsi:type="dcterms:W3CDTF">2026-09-25T18:19:52Z</dcterms:modified>
</cp:coreProperties>
</file>